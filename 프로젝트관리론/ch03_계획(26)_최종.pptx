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88"/>
  </p:notesMasterIdLst>
  <p:handoutMasterIdLst>
    <p:handoutMasterId r:id="rId89"/>
  </p:handoutMasterIdLst>
  <p:sldIdLst>
    <p:sldId id="443" r:id="rId2"/>
    <p:sldId id="444" r:id="rId3"/>
    <p:sldId id="445" r:id="rId4"/>
    <p:sldId id="409" r:id="rId5"/>
    <p:sldId id="329" r:id="rId6"/>
    <p:sldId id="327" r:id="rId7"/>
    <p:sldId id="439" r:id="rId8"/>
    <p:sldId id="410" r:id="rId9"/>
    <p:sldId id="342" r:id="rId10"/>
    <p:sldId id="411" r:id="rId11"/>
    <p:sldId id="359" r:id="rId12"/>
    <p:sldId id="360" r:id="rId13"/>
    <p:sldId id="412" r:id="rId14"/>
    <p:sldId id="361" r:id="rId15"/>
    <p:sldId id="406" r:id="rId16"/>
    <p:sldId id="362" r:id="rId17"/>
    <p:sldId id="333" r:id="rId18"/>
    <p:sldId id="363" r:id="rId19"/>
    <p:sldId id="413" r:id="rId20"/>
    <p:sldId id="350" r:id="rId21"/>
    <p:sldId id="414" r:id="rId22"/>
    <p:sldId id="364" r:id="rId23"/>
    <p:sldId id="365" r:id="rId24"/>
    <p:sldId id="440" r:id="rId25"/>
    <p:sldId id="366" r:id="rId26"/>
    <p:sldId id="415" r:id="rId27"/>
    <p:sldId id="367" r:id="rId28"/>
    <p:sldId id="368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85" r:id="rId44"/>
    <p:sldId id="386" r:id="rId45"/>
    <p:sldId id="387" r:id="rId46"/>
    <p:sldId id="388" r:id="rId47"/>
    <p:sldId id="389" r:id="rId48"/>
    <p:sldId id="390" r:id="rId49"/>
    <p:sldId id="391" r:id="rId50"/>
    <p:sldId id="392" r:id="rId51"/>
    <p:sldId id="393" r:id="rId52"/>
    <p:sldId id="394" r:id="rId53"/>
    <p:sldId id="395" r:id="rId54"/>
    <p:sldId id="396" r:id="rId55"/>
    <p:sldId id="397" r:id="rId56"/>
    <p:sldId id="398" r:id="rId57"/>
    <p:sldId id="399" r:id="rId58"/>
    <p:sldId id="400" r:id="rId59"/>
    <p:sldId id="450" r:id="rId60"/>
    <p:sldId id="451" r:id="rId61"/>
    <p:sldId id="452" r:id="rId62"/>
    <p:sldId id="453" r:id="rId63"/>
    <p:sldId id="416" r:id="rId64"/>
    <p:sldId id="417" r:id="rId65"/>
    <p:sldId id="418" r:id="rId66"/>
    <p:sldId id="419" r:id="rId67"/>
    <p:sldId id="420" r:id="rId68"/>
    <p:sldId id="421" r:id="rId69"/>
    <p:sldId id="422" r:id="rId70"/>
    <p:sldId id="423" r:id="rId71"/>
    <p:sldId id="424" r:id="rId72"/>
    <p:sldId id="425" r:id="rId73"/>
    <p:sldId id="426" r:id="rId74"/>
    <p:sldId id="427" r:id="rId75"/>
    <p:sldId id="428" r:id="rId76"/>
    <p:sldId id="429" r:id="rId77"/>
    <p:sldId id="430" r:id="rId78"/>
    <p:sldId id="431" r:id="rId79"/>
    <p:sldId id="432" r:id="rId80"/>
    <p:sldId id="433" r:id="rId81"/>
    <p:sldId id="434" r:id="rId82"/>
    <p:sldId id="435" r:id="rId83"/>
    <p:sldId id="436" r:id="rId84"/>
    <p:sldId id="442" r:id="rId85"/>
    <p:sldId id="438" r:id="rId86"/>
    <p:sldId id="258" r:id="rId8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82"/>
    <a:srgbClr val="415783"/>
    <a:srgbClr val="0000FF"/>
    <a:srgbClr val="4F784C"/>
    <a:srgbClr val="FFFF99"/>
    <a:srgbClr val="993366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 autoAdjust="0"/>
    <p:restoredTop sz="94660"/>
  </p:normalViewPr>
  <p:slideViewPr>
    <p:cSldViewPr>
      <p:cViewPr varScale="1">
        <p:scale>
          <a:sx n="108" d="100"/>
          <a:sy n="108" d="100"/>
        </p:scale>
        <p:origin x="177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0674"/>
    </p:cViewPr>
  </p:sorterViewPr>
  <p:notesViewPr>
    <p:cSldViewPr>
      <p:cViewPr varScale="1">
        <p:scale>
          <a:sx n="90" d="100"/>
          <a:sy n="90" d="100"/>
        </p:scale>
        <p:origin x="3696" y="7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7C3E9-2372-4D2D-A8FE-578D26F0CA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126D6-8CEA-47E8-B467-8C3047BBC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407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C3899-2E4F-4D3A-8D29-BF4BDDE21DE2}" type="datetimeFigureOut">
              <a:rPr lang="ko-KR" altLang="en-US" smtClean="0"/>
              <a:pPr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363BF-43B7-4F43-ABD0-D052F59FCD1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480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 userDrawn="1"/>
        </p:nvSpPr>
        <p:spPr bwMode="auto">
          <a:xfrm>
            <a:off x="612453" y="981075"/>
            <a:ext cx="7991475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rPr>
              <a:t>IT</a:t>
            </a:r>
            <a:r>
              <a:rPr kumimoji="0" lang="en-US" altLang="ko-KR" sz="1600" b="1" kern="1200" baseline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rPr>
              <a:t> CookBook, </a:t>
            </a:r>
            <a:r>
              <a:rPr kumimoji="0" lang="ko-KR" altLang="en-US" sz="1600" b="1" kern="1200" baseline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rPr>
              <a:t>쉽게 배우는 소프트웨어 공학</a:t>
            </a:r>
            <a:endParaRPr kumimoji="0" lang="en-US" altLang="ko-KR" sz="1600" b="1" kern="1200" baseline="0">
              <a:solidFill>
                <a:schemeClr val="tx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7" name="TextBox 7"/>
          <p:cNvSpPr txBox="1"/>
          <p:nvPr userDrawn="1"/>
        </p:nvSpPr>
        <p:spPr>
          <a:xfrm>
            <a:off x="612453" y="1700213"/>
            <a:ext cx="7655247" cy="1649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[</a:t>
            </a:r>
            <a:r>
              <a:rPr kumimoji="0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강의교안 이용 안내</a:t>
            </a: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ea typeface="맑은 고딕" pitchFamily="50" charset="-127"/>
            </a:endParaRPr>
          </a:p>
          <a:p>
            <a:pPr marL="17145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400" kern="1200" spc="-100" baseline="0" dirty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본 강의교안의 </a:t>
            </a:r>
            <a:r>
              <a:rPr kumimoji="0" lang="ko-KR" altLang="en-US" sz="1400" kern="1200" spc="-100" baseline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저작권은 </a:t>
            </a:r>
            <a:r>
              <a:rPr kumimoji="0" lang="ko-KR" altLang="en-US" sz="1400" b="1" kern="1200" spc="-100" baseline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김치수</a:t>
            </a:r>
            <a:r>
              <a:rPr kumimoji="0" lang="ko-KR" altLang="en-US" sz="1400" b="0" kern="1200" spc="-100" baseline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와</a:t>
            </a:r>
            <a:r>
              <a:rPr kumimoji="0" lang="ko-KR" altLang="en-US" sz="1400" kern="1200" spc="-100" baseline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400" b="1" kern="1200" spc="-100" baseline="0" dirty="0" err="1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한빛아카데미</a:t>
            </a:r>
            <a:r>
              <a:rPr kumimoji="0" lang="ko-KR" altLang="en-US" sz="1400" b="1" kern="1200" spc="-100" baseline="0" dirty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㈜</a:t>
            </a:r>
            <a:r>
              <a:rPr kumimoji="0" lang="ko-KR" altLang="en-US" sz="1400" kern="1200" spc="-100" baseline="0" dirty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에 있습니다</a:t>
            </a:r>
            <a:r>
              <a:rPr kumimoji="0" lang="en-US" altLang="ko-KR" sz="1400" kern="1200" spc="-100" baseline="0" dirty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.</a:t>
            </a:r>
          </a:p>
          <a:p>
            <a:pPr marL="17145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kumimoji="0" lang="en-US" altLang="ko-KR" sz="1400" kern="1200" spc="-100" baseline="0" dirty="0">
              <a:solidFill>
                <a:schemeClr val="tx1"/>
              </a:solidFill>
              <a:latin typeface="+mn-lt"/>
              <a:ea typeface="맑은 고딕" pitchFamily="50" charset="-127"/>
              <a:cs typeface="+mn-cs"/>
            </a:endParaRPr>
          </a:p>
          <a:p>
            <a:pPr marL="171450" marR="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kern="1200" spc="-100" baseline="0" dirty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이 자료는 강의 보조자료로 제공되는 것으로</a:t>
            </a:r>
            <a:r>
              <a:rPr kumimoji="0" lang="en-US" altLang="ko-KR" sz="1400" kern="1200" spc="-100" baseline="0" dirty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, </a:t>
            </a:r>
            <a:r>
              <a:rPr kumimoji="0" lang="ko-KR" altLang="en-US" sz="1400" kern="1200" spc="-100" baseline="0" dirty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학생들에게 배포되어서는 안 됩니다</a:t>
            </a:r>
            <a:r>
              <a:rPr kumimoji="0" lang="en-US" altLang="ko-KR" sz="1400" kern="1200" spc="-100" baseline="0" dirty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rPr>
              <a:t>. </a:t>
            </a:r>
            <a:endParaRPr kumimoji="0" lang="ko-KR" altLang="en-US" sz="1400" kern="1200" spc="-100" baseline="0" dirty="0">
              <a:solidFill>
                <a:schemeClr val="tx1"/>
              </a:solidFill>
              <a:latin typeface="+mn-lt"/>
              <a:ea typeface="맑은 고딕" pitchFamily="50" charset="-127"/>
              <a:cs typeface="+mn-cs"/>
            </a:endParaRPr>
          </a:p>
          <a:p>
            <a:pPr marL="17145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kumimoji="0" lang="en-US" altLang="ko-KR" sz="1400" kern="1200" spc="-100" baseline="0" dirty="0">
              <a:solidFill>
                <a:schemeClr val="tx1"/>
              </a:solidFill>
              <a:latin typeface="+mn-lt"/>
              <a:ea typeface="맑은 고딕" pitchFamily="50" charset="-127"/>
              <a:cs typeface="+mn-cs"/>
            </a:endParaRPr>
          </a:p>
        </p:txBody>
      </p:sp>
      <p:sp>
        <p:nvSpPr>
          <p:cNvPr id="8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9A5F3A"/>
              </a:solidFill>
            </a:endParaRPr>
          </a:p>
        </p:txBody>
      </p:sp>
      <p:pic>
        <p:nvPicPr>
          <p:cNvPr id="9" name="Picture 2" descr="C:\Documents and Settings\hanb\바탕 화면\한빛아카데미.bmp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2727" y="5928484"/>
            <a:ext cx="1591200" cy="2475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39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-63515" y="-8316"/>
            <a:ext cx="9207515" cy="6866316"/>
            <a:chOff x="250985" y="267478"/>
            <a:chExt cx="9148833" cy="6866316"/>
          </a:xfrm>
        </p:grpSpPr>
        <p:sp>
          <p:nvSpPr>
            <p:cNvPr id="6" name="직사각형 5"/>
            <p:cNvSpPr/>
            <p:nvPr userDrawn="1"/>
          </p:nvSpPr>
          <p:spPr>
            <a:xfrm>
              <a:off x="250985" y="267478"/>
              <a:ext cx="3991768" cy="6866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Picture 2" descr="C:\Users\박희숙\Desktop\캡처1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2" t="6280" b="89802"/>
            <a:stretch/>
          </p:blipFill>
          <p:spPr bwMode="auto">
            <a:xfrm rot="5400000">
              <a:off x="-2990482" y="3508945"/>
              <a:ext cx="6856794" cy="373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직사각형 24"/>
            <p:cNvSpPr/>
            <p:nvPr userDrawn="1"/>
          </p:nvSpPr>
          <p:spPr>
            <a:xfrm>
              <a:off x="3295462" y="267478"/>
              <a:ext cx="6104356" cy="68663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/>
          <a:srcRect l="29259" t="-947" r="640" b="31833"/>
          <a:stretch/>
        </p:blipFill>
        <p:spPr>
          <a:xfrm>
            <a:off x="546220" y="2758940"/>
            <a:ext cx="2396712" cy="2916000"/>
          </a:xfrm>
          <a:prstGeom prst="rect">
            <a:avLst/>
          </a:prstGeom>
          <a:ln>
            <a:noFill/>
          </a:ln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/>
          <a:srcRect l="6301" t="78582" r="11914" b="11004"/>
          <a:stretch/>
        </p:blipFill>
        <p:spPr>
          <a:xfrm>
            <a:off x="386535" y="6042675"/>
            <a:ext cx="2556000" cy="401660"/>
          </a:xfrm>
          <a:prstGeom prst="rect">
            <a:avLst/>
          </a:prstGeom>
          <a:ln>
            <a:noFill/>
          </a:ln>
        </p:spPr>
      </p:pic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/>
          <a:srcRect l="6061" t="70061" r="58888" b="21418"/>
          <a:stretch/>
        </p:blipFill>
        <p:spPr>
          <a:xfrm>
            <a:off x="400005" y="5560518"/>
            <a:ext cx="1350150" cy="4050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06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chemeClr val="accent6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endParaRPr lang="en-US" altLang="ko-KR" sz="1200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제목 9"/>
          <p:cNvSpPr>
            <a:spLocks noGrp="1"/>
          </p:cNvSpPr>
          <p:nvPr>
            <p:ph type="title" hasCustomPrompt="1"/>
          </p:nvPr>
        </p:nvSpPr>
        <p:spPr>
          <a:xfrm>
            <a:off x="63500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chemeClr val="accent1">
                    <a:lumMod val="75000"/>
                  </a:schemeClr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학습목표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449263" indent="-2619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Wingdings" panose="05000000000000000000" pitchFamily="2" charset="2"/>
              <a:buChar char="Ø"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627063" indent="-169863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1168400" indent="-1857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7706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박희숙\Desktop\캡처1.JPG"/>
          <p:cNvPicPr>
            <a:picLocks noChangeAspect="1" noChangeArrowheads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2" t="6280" b="89802"/>
          <a:stretch/>
        </p:blipFill>
        <p:spPr bwMode="auto">
          <a:xfrm rot="10800000">
            <a:off x="0" y="4464115"/>
            <a:ext cx="9144000" cy="2393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/>
          <p:cNvSpPr/>
          <p:nvPr userDrawn="1"/>
        </p:nvSpPr>
        <p:spPr>
          <a:xfrm>
            <a:off x="0" y="-8316"/>
            <a:ext cx="9144000" cy="28972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6535" y="3121146"/>
            <a:ext cx="900100" cy="1110762"/>
          </a:xfrm>
          <a:prstGeom prst="rect">
            <a:avLst/>
          </a:prstGeom>
          <a:ln w="3175"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14" name="Rectangle 2"/>
          <p:cNvSpPr>
            <a:spLocks noGrp="1" noChangeArrowheads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466655" y="3311297"/>
            <a:ext cx="7335815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 b="0" i="0" baseline="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/>
            <a:r>
              <a:rPr lang="ko-KR" altLang="en-US" noProof="0"/>
              <a:t>절제목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631851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endParaRPr lang="en-US" altLang="ko-KR" sz="1200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355600" indent="-2619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627063" indent="-169863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1168400" indent="-1857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8230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139700" y="6525345"/>
            <a:ext cx="8756650" cy="280046"/>
          </a:xfrm>
          <a:prstGeom prst="rect">
            <a:avLst/>
          </a:prstGeom>
        </p:spPr>
        <p:txBody>
          <a:bodyPr/>
          <a:lstStyle>
            <a:lvl1pPr>
              <a:defRPr b="1" i="1"/>
            </a:lvl1pPr>
          </a:lstStyle>
          <a:p>
            <a:pPr latinLnBrk="0"/>
            <a:fld id="{926EA8F1-C76B-4BC6-98C4-C2D2384EDDB7}" type="slidenum">
              <a:rPr lang="en-US" altLang="ko-KR" kern="0" smtClean="0">
                <a:latin typeface="Verdana"/>
              </a:rPr>
              <a:pPr latinLnBrk="0"/>
              <a:t>‹#›</a:t>
            </a:fld>
            <a:endParaRPr lang="en-US" altLang="ko-KR" kern="0" dirty="0">
              <a:latin typeface="Verdana"/>
            </a:endParaRPr>
          </a:p>
        </p:txBody>
      </p:sp>
      <p:sp>
        <p:nvSpPr>
          <p:cNvPr id="9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" name="AutoShape 3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Line 5"/>
          <p:cNvSpPr>
            <a:spLocks noChangeShapeType="1"/>
          </p:cNvSpPr>
          <p:nvPr userDrawn="1">
            <p:custDataLst>
              <p:tags r:id="rId5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142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백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/86</a:t>
            </a:r>
            <a:endParaRPr lang="en-US" altLang="ko-KR" sz="1200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5720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4854575"/>
            <a:ext cx="9144000" cy="2003425"/>
          </a:xfrm>
          <a:prstGeom prst="rect">
            <a:avLst/>
          </a:prstGeom>
          <a:solidFill>
            <a:srgbClr val="D88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/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316360" y="5265122"/>
            <a:ext cx="8229600" cy="1332230"/>
          </a:xfrm>
          <a:ln>
            <a:noFill/>
          </a:ln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317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5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16310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TextBox 9"/>
          <p:cNvSpPr txBox="1"/>
          <p:nvPr userDrawn="1"/>
        </p:nvSpPr>
        <p:spPr>
          <a:xfrm>
            <a:off x="89540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895400" y="1844824"/>
            <a:ext cx="7408019" cy="4104456"/>
          </a:xfrm>
        </p:spPr>
        <p:txBody>
          <a:bodyPr/>
          <a:lstStyle>
            <a:lvl1pPr marL="0" indent="0">
              <a:lnSpc>
                <a:spcPct val="150000"/>
              </a:lnSpc>
              <a:buFont typeface="+mj-lt"/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720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5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16310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TextBox 9"/>
          <p:cNvSpPr txBox="1"/>
          <p:nvPr userDrawn="1"/>
        </p:nvSpPr>
        <p:spPr>
          <a:xfrm>
            <a:off x="89540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895400" y="1844824"/>
            <a:ext cx="7408019" cy="4104456"/>
          </a:xfrm>
        </p:spPr>
        <p:txBody>
          <a:bodyPr/>
          <a:lstStyle>
            <a:lvl1pPr marL="0" indent="0">
              <a:lnSpc>
                <a:spcPct val="150000"/>
              </a:lnSpc>
              <a:buFont typeface="+mj-lt"/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61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FD9B6-DC5A-4644-B01F-335E6DD2CDD1}" type="datetimeFigureOut">
              <a:rPr lang="ko-KR" altLang="en-US" smtClean="0"/>
              <a:pPr/>
              <a:t>2026-09-21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BC740F2-65F4-46F1-8462-F5CEAE10BBF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835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6" r:id="rId3"/>
    <p:sldLayoutId id="2147483695" r:id="rId4"/>
    <p:sldLayoutId id="2147483692" r:id="rId5"/>
    <p:sldLayoutId id="2147483681" r:id="rId6"/>
    <p:sldLayoutId id="2147483684" r:id="rId7"/>
    <p:sldLayoutId id="2147483697" r:id="rId8"/>
    <p:sldLayoutId id="2147483698" r:id="rId9"/>
    <p:sldLayoutId id="2147483699" r:id="rId1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 noChangeArrowheads="1"/>
          </p:cNvSpPr>
          <p:nvPr>
            <p:ph type="title"/>
          </p:nvPr>
        </p:nvSpPr>
        <p:spPr>
          <a:xfrm>
            <a:off x="315913" y="5265738"/>
            <a:ext cx="8229600" cy="1331912"/>
          </a:xfrm>
        </p:spPr>
        <p:txBody>
          <a:bodyPr/>
          <a:lstStyle/>
          <a:p>
            <a:pPr eaLnBrk="1" hangingPunct="1"/>
            <a:r>
              <a:rPr lang="en-US" altLang="ko-KR" sz="3000" smtClean="0"/>
              <a:t>Chapter 03 </a:t>
            </a:r>
            <a:r>
              <a:rPr lang="ko-KR" altLang="en-US" sz="3200" smtClean="0"/>
              <a:t>계획</a:t>
            </a:r>
            <a:endParaRPr lang="ko-KR" altLang="en-US" sz="3000" smtClean="0"/>
          </a:p>
        </p:txBody>
      </p:sp>
      <p:sp>
        <p:nvSpPr>
          <p:cNvPr id="8195" name="TextBox 1"/>
          <p:cNvSpPr txBox="1">
            <a:spLocks noChangeArrowheads="1"/>
          </p:cNvSpPr>
          <p:nvPr/>
        </p:nvSpPr>
        <p:spPr bwMode="auto">
          <a:xfrm>
            <a:off x="1692275" y="2060575"/>
            <a:ext cx="52752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ko-KR" altLang="en-US" sz="5400"/>
              <a:t>프로젝트 관리론</a:t>
            </a:r>
          </a:p>
        </p:txBody>
      </p:sp>
    </p:spTree>
    <p:extLst>
      <p:ext uri="{BB962C8B-B14F-4D97-AF65-F5344CB8AC3E}">
        <p14:creationId xmlns:p14="http://schemas.microsoft.com/office/powerpoint/2010/main" val="143161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텍스트 개체 틀 1"/>
          <p:cNvSpPr>
            <a:spLocks noGrp="1" noChangeArrowheads="1"/>
          </p:cNvSpPr>
          <p:nvPr>
            <p:ph type="body" sz="quarter" idx="13"/>
          </p:nvPr>
        </p:nvSpPr>
        <p:spPr>
          <a:xfrm>
            <a:off x="895350" y="1844675"/>
            <a:ext cx="7780338" cy="4392613"/>
          </a:xfrm>
        </p:spPr>
        <p:txBody>
          <a:bodyPr rtlCol="0"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ko-KR" dirty="0"/>
              <a:t>01 </a:t>
            </a:r>
            <a:r>
              <a:rPr lang="ko-KR" altLang="en-US" dirty="0"/>
              <a:t>계획의 이해 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02 </a:t>
            </a:r>
            <a:r>
              <a:rPr lang="ko-KR" altLang="en-US" dirty="0"/>
              <a:t>문제 정의 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03 </a:t>
            </a:r>
            <a:r>
              <a:rPr lang="ko-KR" altLang="en-US" dirty="0"/>
              <a:t>타당성 분석 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04 </a:t>
            </a:r>
            <a:r>
              <a:rPr lang="ko-KR" altLang="en-US" dirty="0"/>
              <a:t>개발 비용 산정 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05 </a:t>
            </a:r>
            <a:r>
              <a:rPr lang="ko-KR" altLang="en-US" dirty="0"/>
              <a:t>비용 산정 기법 </a:t>
            </a:r>
            <a:r>
              <a:rPr lang="en-US" altLang="ko-KR" dirty="0"/>
              <a:t>1: </a:t>
            </a:r>
            <a:r>
              <a:rPr lang="ko-KR" altLang="en-US" dirty="0"/>
              <a:t>하향식 산정 기법 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06 </a:t>
            </a:r>
            <a:r>
              <a:rPr lang="ko-KR" altLang="en-US" dirty="0"/>
              <a:t>비용 산정 기법 </a:t>
            </a:r>
            <a:r>
              <a:rPr lang="en-US" altLang="ko-KR" dirty="0"/>
              <a:t>2: </a:t>
            </a:r>
            <a:r>
              <a:rPr lang="ko-KR" altLang="en-US" dirty="0"/>
              <a:t>상향식 산정 기법 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07 </a:t>
            </a:r>
            <a:r>
              <a:rPr lang="ko-KR" altLang="en-US" dirty="0"/>
              <a:t>비용 산정 기법 </a:t>
            </a:r>
            <a:r>
              <a:rPr lang="en-US" altLang="ko-KR" dirty="0"/>
              <a:t>3: </a:t>
            </a:r>
            <a:r>
              <a:rPr lang="ko-KR" altLang="en-US" dirty="0"/>
              <a:t>수학적 산정 기법 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08 </a:t>
            </a:r>
            <a:r>
              <a:rPr lang="ko-KR" altLang="en-US" dirty="0"/>
              <a:t>일정 계획 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09 </a:t>
            </a:r>
            <a:r>
              <a:rPr lang="ko-KR" altLang="en-US" dirty="0"/>
              <a:t>위험 분석</a:t>
            </a:r>
          </a:p>
        </p:txBody>
      </p:sp>
    </p:spTree>
    <p:extLst>
      <p:ext uri="{BB962C8B-B14F-4D97-AF65-F5344CB8AC3E}">
        <p14:creationId xmlns:p14="http://schemas.microsoft.com/office/powerpoint/2010/main" val="316468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895350" y="1844675"/>
            <a:ext cx="7637463" cy="4105275"/>
          </a:xfrm>
        </p:spPr>
        <p:txBody>
          <a:bodyPr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ko-KR" altLang="en-US" smtClean="0"/>
              <a:t>체계적인 계획을 세우는 방법을 알아본다</a:t>
            </a:r>
            <a:r>
              <a:rPr lang="en-US" altLang="ko-KR" smtClean="0"/>
              <a:t>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ko-KR" altLang="en-US" smtClean="0"/>
              <a:t>소프트웨어 개발 비용 산정을 알아본다</a:t>
            </a:r>
            <a:r>
              <a:rPr lang="en-US" altLang="ko-KR" smtClean="0"/>
              <a:t>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ko-KR" altLang="en-US" smtClean="0"/>
              <a:t>기능 점수</a:t>
            </a:r>
            <a:r>
              <a:rPr lang="en-US" altLang="ko-KR" smtClean="0"/>
              <a:t> </a:t>
            </a:r>
            <a:r>
              <a:rPr lang="ko-KR" altLang="en-US" smtClean="0"/>
              <a:t>방법을 자세히 살펴본다</a:t>
            </a:r>
            <a:r>
              <a:rPr lang="en-US" altLang="ko-KR" smtClean="0"/>
              <a:t>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ko-KR" altLang="en-US" smtClean="0"/>
              <a:t>프로젝트 일정 계획과 위험 분석 방법을 알아본다</a:t>
            </a:r>
            <a:r>
              <a:rPr lang="en-US" altLang="ko-KR" smtClean="0"/>
              <a:t>. 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9973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01 </a:t>
            </a:r>
            <a:r>
              <a:rPr lang="ko-KR" altLang="en-US" dirty="0"/>
              <a:t>계획의 이해</a:t>
            </a:r>
          </a:p>
        </p:txBody>
      </p:sp>
    </p:spTree>
    <p:extLst>
      <p:ext uri="{BB962C8B-B14F-4D97-AF65-F5344CB8AC3E}">
        <p14:creationId xmlns:p14="http://schemas.microsoft.com/office/powerpoint/2010/main" val="643582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계획의 이해</a:t>
            </a:r>
            <a:endParaRPr lang="ko-KR" altLang="en-US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1328737"/>
            <a:ext cx="60864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6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소프트웨어 개발 계획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4A82"/>
                </a:solidFill>
              </a:rPr>
              <a:t>소프트웨어 개발 계획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비용</a:t>
            </a:r>
            <a:r>
              <a:rPr lang="en-US" altLang="ko-KR" dirty="0"/>
              <a:t>, </a:t>
            </a:r>
            <a:r>
              <a:rPr lang="ko-KR" altLang="en-US" dirty="0"/>
              <a:t>기간</a:t>
            </a:r>
            <a:r>
              <a:rPr lang="en-US" altLang="ko-KR" dirty="0"/>
              <a:t>, </a:t>
            </a:r>
            <a:r>
              <a:rPr lang="ko-KR" altLang="en-US" dirty="0"/>
              <a:t>자원 계획 필요</a:t>
            </a:r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계획 없는 소프트웨어 개발 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일정 지연</a:t>
            </a:r>
            <a:r>
              <a:rPr lang="en-US" altLang="ko-KR" dirty="0"/>
              <a:t>, </a:t>
            </a:r>
            <a:r>
              <a:rPr lang="ko-KR" altLang="en-US" dirty="0"/>
              <a:t>비용 초과</a:t>
            </a:r>
            <a:r>
              <a:rPr lang="en-US" altLang="ko-KR" dirty="0"/>
              <a:t>, </a:t>
            </a:r>
            <a:r>
              <a:rPr lang="ko-KR" altLang="en-US" dirty="0"/>
              <a:t>품질 저하 →</a:t>
            </a:r>
            <a:r>
              <a:rPr lang="en-US" altLang="ko-KR" dirty="0"/>
              <a:t> </a:t>
            </a:r>
            <a:r>
              <a:rPr lang="ko-KR" altLang="en-US" dirty="0"/>
              <a:t>유지보수 비용 증가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695" y="3203975"/>
            <a:ext cx="5561388" cy="354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소프트웨어 개발 계획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z="2400" dirty="0">
                <a:solidFill>
                  <a:srgbClr val="004A82"/>
                </a:solidFill>
              </a:rPr>
              <a:t>소프트웨어 개발 계획 세우는 방법 및 순서</a:t>
            </a:r>
            <a:endParaRPr lang="en-US" altLang="ko-KR" sz="2400" dirty="0">
              <a:solidFill>
                <a:srgbClr val="004A82"/>
              </a:solidFill>
            </a:endParaRPr>
          </a:p>
          <a:p>
            <a:pPr lvl="1"/>
            <a:r>
              <a:rPr lang="ko-KR" altLang="en-US" sz="2000" dirty="0"/>
              <a:t>문제 정의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타당성 분석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SW </a:t>
            </a:r>
            <a:r>
              <a:rPr lang="ko-KR" altLang="en-US" sz="2000" dirty="0"/>
              <a:t>개발 비용 산정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SW </a:t>
            </a:r>
            <a:r>
              <a:rPr lang="ko-KR" altLang="en-US" sz="2000" dirty="0"/>
              <a:t>개발 비용 산정 기법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일정 계획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위험 분석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5732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02 </a:t>
            </a:r>
            <a:r>
              <a:rPr lang="ko-KR" altLang="en-US" dirty="0"/>
              <a:t>문제의 정의</a:t>
            </a:r>
          </a:p>
        </p:txBody>
      </p:sp>
    </p:spTree>
    <p:extLst>
      <p:ext uri="{BB962C8B-B14F-4D97-AF65-F5344CB8AC3E}">
        <p14:creationId xmlns:p14="http://schemas.microsoft.com/office/powerpoint/2010/main" val="271295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문제의 정의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문제 정의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소프트웨어 개발의 첫 작업</a:t>
            </a:r>
            <a:endParaRPr lang="en-US" altLang="ko-KR" dirty="0"/>
          </a:p>
          <a:p>
            <a:pPr lvl="1"/>
            <a:r>
              <a:rPr lang="ko-KR" altLang="en-US" dirty="0"/>
              <a:t>무엇을 개발할 것인지 명확히 정의</a:t>
            </a:r>
            <a:endParaRPr lang="en-US" altLang="ko-KR" dirty="0"/>
          </a:p>
          <a:p>
            <a:pPr lvl="1"/>
            <a:r>
              <a:rPr lang="ko-KR" altLang="en-US" dirty="0"/>
              <a:t>개발 범위를 결정</a:t>
            </a:r>
            <a:endParaRPr lang="en-US" altLang="ko-KR" dirty="0"/>
          </a:p>
          <a:p>
            <a:pPr lvl="1"/>
            <a:endParaRPr lang="en-US" altLang="ko-KR" sz="1600" dirty="0"/>
          </a:p>
          <a:p>
            <a:pPr marL="457200" lvl="1" indent="0">
              <a:buNone/>
            </a:pPr>
            <a:r>
              <a:rPr lang="ko-KR" altLang="en-US" dirty="0"/>
              <a:t>→ 프로젝트의 초기 타당성과 초기 계획을 작성할 수 있는 기초로 활용</a:t>
            </a:r>
            <a:endParaRPr lang="en-US" altLang="ko-KR" dirty="0"/>
          </a:p>
          <a:p>
            <a:pPr lvl="1">
              <a:buFont typeface="Symbol"/>
              <a:buChar char="Þ"/>
            </a:pPr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문제 정의를 위한 필요 사항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개발하고자 하는 영역의 배경 지식 필요하다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문제를 파악하기 위해 현재 운영 중인 시스템을 사용해본다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실무 담당자와 면담하여 자료를 수집한 후 면밀히 분석해본다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66408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03 </a:t>
            </a:r>
            <a:r>
              <a:rPr lang="ko-KR" altLang="en-US" dirty="0"/>
              <a:t>타당성 분석</a:t>
            </a:r>
          </a:p>
        </p:txBody>
      </p:sp>
    </p:spTree>
    <p:extLst>
      <p:ext uri="{BB962C8B-B14F-4D97-AF65-F5344CB8AC3E}">
        <p14:creationId xmlns:p14="http://schemas.microsoft.com/office/powerpoint/2010/main" val="599484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타당성 분석</a:t>
            </a:r>
            <a:r>
              <a:rPr lang="en-US" altLang="ko-KR" dirty="0"/>
              <a:t>(1)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경제적 타당성</a:t>
            </a:r>
            <a:r>
              <a:rPr lang="en-US" altLang="ko-KR" baseline="30000" dirty="0">
                <a:solidFill>
                  <a:srgbClr val="004A82"/>
                </a:solidFill>
              </a:rPr>
              <a:t>economic feasibility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경영자</a:t>
            </a:r>
            <a:r>
              <a:rPr lang="en-US" altLang="ko-KR" dirty="0"/>
              <a:t>: </a:t>
            </a:r>
            <a:r>
              <a:rPr lang="ko-KR" altLang="en-US" dirty="0"/>
              <a:t>투자 효율성</a:t>
            </a:r>
            <a:r>
              <a:rPr lang="en-US" altLang="ko-KR" baseline="30000" dirty="0"/>
              <a:t>cost benefit analysis</a:t>
            </a:r>
            <a:r>
              <a:rPr lang="ko-KR" altLang="en-US" dirty="0"/>
              <a:t>에 관심</a:t>
            </a:r>
            <a:endParaRPr lang="en-US" altLang="ko-KR" dirty="0"/>
          </a:p>
          <a:p>
            <a:pPr lvl="1"/>
            <a:r>
              <a:rPr lang="ko-KR" altLang="en-US" dirty="0"/>
              <a:t>분석가</a:t>
            </a:r>
            <a:r>
              <a:rPr lang="en-US" altLang="ko-KR" dirty="0"/>
              <a:t>: </a:t>
            </a:r>
            <a:r>
              <a:rPr lang="ko-KR" altLang="en-US" dirty="0"/>
              <a:t>투자 대비 효과 검토 후 경영자에게 정확한 정보 제공</a:t>
            </a:r>
            <a:endParaRPr lang="en-US" altLang="ko-KR" dirty="0"/>
          </a:p>
          <a:p>
            <a:pPr lvl="1"/>
            <a:r>
              <a:rPr lang="ko-KR" altLang="en-US" dirty="0"/>
              <a:t>시장 분석을 통한 시장성</a:t>
            </a:r>
            <a:r>
              <a:rPr lang="en-US" altLang="ko-KR" baseline="30000" dirty="0"/>
              <a:t>marketability</a:t>
            </a:r>
            <a:r>
              <a:rPr lang="ko-KR" altLang="en-US" baseline="30000" dirty="0"/>
              <a:t>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endParaRPr lang="en-US" altLang="ko-KR" sz="1600" dirty="0"/>
          </a:p>
          <a:p>
            <a:pPr marL="457200" lvl="1" indent="0">
              <a:buNone/>
            </a:pPr>
            <a:r>
              <a:rPr lang="ko-KR" altLang="en-US" dirty="0"/>
              <a:t>→ 개발 여부 판단</a:t>
            </a:r>
            <a:endParaRPr lang="en-US" altLang="ko-KR" dirty="0"/>
          </a:p>
          <a:p>
            <a:pPr lvl="1">
              <a:buFont typeface="Symbol"/>
              <a:buChar char="Þ"/>
            </a:pPr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기술적 타당성</a:t>
            </a:r>
            <a:r>
              <a:rPr lang="en-US" altLang="ko-KR" baseline="30000" dirty="0">
                <a:solidFill>
                  <a:srgbClr val="004A82"/>
                </a:solidFill>
              </a:rPr>
              <a:t>technical feasibility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현재의 기술로 사용자가 요구하는 기능을 구현할 수 있는지 검토</a:t>
            </a:r>
            <a:endParaRPr lang="en-US" altLang="ko-KR" dirty="0"/>
          </a:p>
          <a:p>
            <a:pPr lvl="1"/>
            <a:r>
              <a:rPr lang="ko-KR" altLang="en-US" dirty="0"/>
              <a:t>하드웨어 성능이 개발에 지장은 없는지 검토</a:t>
            </a:r>
            <a:endParaRPr lang="en-US" altLang="ko-KR" dirty="0"/>
          </a:p>
          <a:p>
            <a:pPr lvl="1"/>
            <a:r>
              <a:rPr lang="ko-KR" altLang="en-US" dirty="0"/>
              <a:t>개발자의 기술력에 문제가 없는지 검토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47828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타당성 분석</a:t>
            </a:r>
            <a:r>
              <a:rPr lang="en-US" altLang="ko-KR" dirty="0"/>
              <a:t>(2)</a:t>
            </a:r>
            <a:r>
              <a:rPr lang="ko-KR" altLang="en-US" dirty="0"/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법적 타당성</a:t>
            </a:r>
            <a:r>
              <a:rPr lang="en-US" altLang="ko-KR" baseline="30000" dirty="0">
                <a:solidFill>
                  <a:srgbClr val="004A82"/>
                </a:solidFill>
              </a:rPr>
              <a:t>legal feasibility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개발용 소프트웨어와 도구의 사용이 법적으로 문제가 없는지 검토</a:t>
            </a:r>
            <a:endParaRPr lang="en-US" altLang="ko-KR" dirty="0"/>
          </a:p>
          <a:p>
            <a:pPr lvl="1"/>
            <a:r>
              <a:rPr lang="ko-KR" altLang="en-US" dirty="0"/>
              <a:t>지적 소유권과 프로그램 보호법이 강화되었으므로 법적인 문제를 꼭 검토</a:t>
            </a:r>
            <a:endParaRPr lang="en-US" altLang="ko-KR" dirty="0"/>
          </a:p>
          <a:p>
            <a:pPr lvl="1"/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032321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04 </a:t>
            </a:r>
            <a:r>
              <a:rPr lang="ko-KR" altLang="en-US" dirty="0"/>
              <a:t>개발비용 산정</a:t>
            </a:r>
          </a:p>
        </p:txBody>
      </p:sp>
    </p:spTree>
    <p:extLst>
      <p:ext uri="{BB962C8B-B14F-4D97-AF65-F5344CB8AC3E}">
        <p14:creationId xmlns:p14="http://schemas.microsoft.com/office/powerpoint/2010/main" val="2509047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개발 비용 산정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685" y="638690"/>
            <a:ext cx="4733156" cy="5715635"/>
          </a:xfrm>
        </p:spPr>
      </p:pic>
    </p:spTree>
    <p:extLst>
      <p:ext uri="{BB962C8B-B14F-4D97-AF65-F5344CB8AC3E}">
        <p14:creationId xmlns:p14="http://schemas.microsoft.com/office/powerpoint/2010/main" val="3188685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개발비 산정의 어려움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/>
          <a:lstStyle/>
          <a:p>
            <a:r>
              <a:rPr lang="ko-KR" altLang="en-US" dirty="0">
                <a:solidFill>
                  <a:srgbClr val="004A82"/>
                </a:solidFill>
              </a:rPr>
              <a:t>전자 제품 생산 비용 예측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생산 제품 형상의 명확화</a:t>
            </a:r>
            <a:endParaRPr lang="en-US" altLang="ko-KR" dirty="0"/>
          </a:p>
          <a:p>
            <a:pPr lvl="1"/>
            <a:r>
              <a:rPr lang="ko-KR" altLang="en-US" dirty="0"/>
              <a:t>생산에 투입되는 자재 개수 및</a:t>
            </a:r>
            <a:r>
              <a:rPr lang="en-US" altLang="ko-KR" dirty="0"/>
              <a:t> </a:t>
            </a:r>
            <a:r>
              <a:rPr lang="ko-KR" altLang="en-US" dirty="0"/>
              <a:t>가격의 명확화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→</a:t>
            </a:r>
            <a:r>
              <a:rPr lang="en-US" altLang="ko-KR" dirty="0"/>
              <a:t> </a:t>
            </a:r>
            <a:r>
              <a:rPr lang="ko-KR" altLang="en-US" dirty="0"/>
              <a:t>제조 원가의 명확화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건축 비용 예측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 err="1"/>
              <a:t>자재비</a:t>
            </a:r>
            <a:r>
              <a:rPr lang="en-US" altLang="ko-KR" dirty="0"/>
              <a:t>, </a:t>
            </a:r>
            <a:r>
              <a:rPr lang="ko-KR" altLang="en-US" dirty="0"/>
              <a:t>인건비의 정확한 예측 가능</a:t>
            </a:r>
            <a:endParaRPr lang="en-US" altLang="ko-KR" dirty="0"/>
          </a:p>
          <a:p>
            <a:pPr lvl="1"/>
            <a:r>
              <a:rPr lang="ko-KR" altLang="en-US" dirty="0"/>
              <a:t>전체 비용 정확한 산출</a:t>
            </a:r>
            <a:r>
              <a:rPr lang="en-US" altLang="ko-KR" dirty="0"/>
              <a:t>(</a:t>
            </a:r>
            <a:r>
              <a:rPr lang="ko-KR" altLang="en-US" dirty="0"/>
              <a:t>평당 가격 </a:t>
            </a:r>
            <a:r>
              <a:rPr lang="en-US" altLang="ko-KR" dirty="0"/>
              <a:t>Ⅹ </a:t>
            </a:r>
            <a:r>
              <a:rPr lang="ko-KR" altLang="en-US" dirty="0"/>
              <a:t>평수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06"/>
          <a:stretch/>
        </p:blipFill>
        <p:spPr>
          <a:xfrm>
            <a:off x="4942373" y="998730"/>
            <a:ext cx="3905102" cy="215859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3" b="43848"/>
          <a:stretch/>
        </p:blipFill>
        <p:spPr>
          <a:xfrm>
            <a:off x="4942373" y="4284095"/>
            <a:ext cx="3905102" cy="215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39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개발비 산정의 어려움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4A82"/>
                </a:solidFill>
              </a:rPr>
              <a:t>소프트웨어 개발 비용 예측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가전제품 생산이나 건축 공사와 달리 사람</a:t>
            </a:r>
            <a:r>
              <a:rPr lang="en-US" altLang="ko-KR" dirty="0"/>
              <a:t>(</a:t>
            </a:r>
            <a:r>
              <a:rPr lang="ko-KR" altLang="en-US" dirty="0"/>
              <a:t>개발자</a:t>
            </a:r>
            <a:r>
              <a:rPr lang="en-US" altLang="ko-KR" dirty="0"/>
              <a:t>)</a:t>
            </a:r>
            <a:r>
              <a:rPr lang="ko-KR" altLang="en-US" dirty="0"/>
              <a:t>이 중심</a:t>
            </a:r>
          </a:p>
          <a:p>
            <a:pPr lvl="1"/>
            <a:r>
              <a:rPr lang="ko-KR" altLang="en-US" dirty="0"/>
              <a:t>개발자의 능력에 따른 생산성의 차이         기간과 품질에 영향</a:t>
            </a:r>
            <a:endParaRPr lang="en-US" altLang="ko-KR" dirty="0"/>
          </a:p>
          <a:p>
            <a:pPr lvl="1"/>
            <a:r>
              <a:rPr lang="ko-KR" altLang="en-US" dirty="0"/>
              <a:t>다양한 개발 프로세스로 인한 표준화</a:t>
            </a:r>
            <a:r>
              <a:rPr lang="en-US" altLang="ko-KR" dirty="0"/>
              <a:t>/</a:t>
            </a:r>
            <a:r>
              <a:rPr lang="ko-KR" altLang="en-US" dirty="0"/>
              <a:t>자동화의 어려움        다양한 생산성과 품질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→ </a:t>
            </a:r>
            <a:r>
              <a:rPr lang="ko-KR" altLang="en-US" dirty="0"/>
              <a:t>명확한 개발비 산출의 어려움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</a:t>
            </a:r>
            <a:endParaRPr lang="en-US" altLang="ko-KR" dirty="0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4211960" y="1906107"/>
            <a:ext cx="495055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>
            <a:off x="5697125" y="2393885"/>
            <a:ext cx="495055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488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SW </a:t>
            </a:r>
            <a:r>
              <a:rPr lang="ko-KR" altLang="en-US" dirty="0"/>
              <a:t>개발 비용에 영향을 주는 요소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프로그램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  <a:r>
              <a:rPr lang="ko-KR" altLang="en-US" dirty="0">
                <a:solidFill>
                  <a:srgbClr val="004A82"/>
                </a:solidFill>
              </a:rPr>
              <a:t>자질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초급 프로그래머와 고급 프로그래머의 생산성 차이가 큼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→ </a:t>
            </a:r>
            <a:r>
              <a:rPr lang="ko-KR" altLang="en-US" dirty="0"/>
              <a:t>프로그램의 자질</a:t>
            </a:r>
            <a:r>
              <a:rPr lang="en-US" altLang="ko-KR" dirty="0"/>
              <a:t>: </a:t>
            </a:r>
            <a:r>
              <a:rPr lang="ko-KR" altLang="en-US" dirty="0"/>
              <a:t>개발 비용에 영향을 줌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소프트웨어 복잡도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 err="1"/>
              <a:t>브룩스의</a:t>
            </a:r>
            <a:r>
              <a:rPr lang="ko-KR" altLang="en-US" dirty="0"/>
              <a:t> 법칙</a:t>
            </a:r>
            <a:r>
              <a:rPr lang="en-US" altLang="ko-KR" dirty="0"/>
              <a:t>: </a:t>
            </a:r>
            <a:r>
              <a:rPr lang="ko-KR" altLang="en-US" dirty="0"/>
              <a:t>애플리케이션 개발 </a:t>
            </a:r>
            <a:r>
              <a:rPr lang="en-US" altLang="ko-KR" dirty="0"/>
              <a:t>&lt; </a:t>
            </a:r>
            <a:r>
              <a:rPr lang="ko-KR" altLang="en-US" dirty="0"/>
              <a:t>유틸리티 개발 </a:t>
            </a:r>
            <a:r>
              <a:rPr lang="en-US" altLang="ko-KR" dirty="0"/>
              <a:t>&lt; </a:t>
            </a:r>
            <a:r>
              <a:rPr lang="ko-KR" altLang="en-US" dirty="0"/>
              <a:t>시스템 프로그램 개발</a:t>
            </a:r>
            <a:r>
              <a:rPr lang="en-US" altLang="ko-KR" dirty="0"/>
              <a:t> </a:t>
            </a:r>
          </a:p>
          <a:p>
            <a:pPr marL="457200" lvl="1" indent="0">
              <a:buNone/>
            </a:pPr>
            <a:r>
              <a:rPr lang="en-US" altLang="ko-KR" dirty="0"/>
              <a:t>   → </a:t>
            </a:r>
            <a:r>
              <a:rPr lang="ko-KR" altLang="en-US" dirty="0"/>
              <a:t>소프트웨어 복잡도</a:t>
            </a:r>
            <a:r>
              <a:rPr lang="en-US" altLang="ko-KR" dirty="0"/>
              <a:t>: </a:t>
            </a:r>
            <a:r>
              <a:rPr lang="ko-KR" altLang="en-US" dirty="0"/>
              <a:t>개발 비용에 영향을 미침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소프트웨어 크기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참여 인력 증가</a:t>
            </a:r>
            <a:r>
              <a:rPr lang="en-US" altLang="ko-KR" dirty="0"/>
              <a:t>, </a:t>
            </a:r>
            <a:r>
              <a:rPr lang="ko-KR" altLang="en-US" dirty="0"/>
              <a:t>개발 기간 길어짐</a:t>
            </a:r>
            <a:r>
              <a:rPr lang="en-US" altLang="ko-KR" dirty="0"/>
              <a:t>, </a:t>
            </a:r>
            <a:r>
              <a:rPr lang="ko-KR" altLang="en-US" dirty="0"/>
              <a:t>복잡도 커짐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→ </a:t>
            </a:r>
            <a:r>
              <a:rPr lang="ko-KR" altLang="en-US" dirty="0"/>
              <a:t>소프트웨어 규모</a:t>
            </a:r>
            <a:r>
              <a:rPr lang="en-US" altLang="ko-KR" dirty="0"/>
              <a:t>: </a:t>
            </a:r>
            <a:r>
              <a:rPr lang="ko-KR" altLang="en-US" dirty="0"/>
              <a:t>개발 비용에 영향을 미침</a:t>
            </a:r>
            <a:endParaRPr lang="en-US" altLang="ko-KR" dirty="0"/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i="1" dirty="0"/>
          </a:p>
        </p:txBody>
      </p:sp>
    </p:spTree>
    <p:extLst>
      <p:ext uri="{BB962C8B-B14F-4D97-AF65-F5344CB8AC3E}">
        <p14:creationId xmlns:p14="http://schemas.microsoft.com/office/powerpoint/2010/main" val="1867843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SW </a:t>
            </a:r>
            <a:r>
              <a:rPr lang="ko-KR" altLang="en-US" dirty="0"/>
              <a:t>개발 비용에 영향을 주는 요소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가용 시간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관리자들의 잘못된 생각</a:t>
            </a:r>
            <a:r>
              <a:rPr lang="en-US" altLang="ko-KR" dirty="0"/>
              <a:t>: </a:t>
            </a:r>
            <a:r>
              <a:rPr lang="ko-KR" altLang="en-US" dirty="0"/>
              <a:t>인력</a:t>
            </a:r>
            <a:r>
              <a:rPr lang="en-US" altLang="ko-KR" dirty="0"/>
              <a:t>/</a:t>
            </a:r>
            <a:r>
              <a:rPr lang="ko-KR" altLang="en-US" dirty="0"/>
              <a:t>자원 증가는 개발 기간 단축</a:t>
            </a:r>
            <a:endParaRPr lang="en-US" altLang="ko-KR" dirty="0"/>
          </a:p>
          <a:p>
            <a:pPr lvl="1"/>
            <a:r>
              <a:rPr lang="ko-KR" altLang="en-US" dirty="0" err="1"/>
              <a:t>보헴</a:t>
            </a:r>
            <a:r>
              <a:rPr lang="en-US" altLang="ko-KR" dirty="0"/>
              <a:t>: </a:t>
            </a:r>
            <a:r>
              <a:rPr lang="ko-KR" altLang="en-US" dirty="0"/>
              <a:t>“정상적인 계획에서 최대 </a:t>
            </a:r>
            <a:r>
              <a:rPr lang="en-US" altLang="ko-KR" dirty="0"/>
              <a:t>75%</a:t>
            </a:r>
            <a:r>
              <a:rPr lang="ko-KR" altLang="en-US" dirty="0"/>
              <a:t>가 줄일 수 있는 한계”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</a:t>
            </a:r>
          </a:p>
          <a:p>
            <a:r>
              <a:rPr lang="ko-KR" altLang="en-US" dirty="0">
                <a:solidFill>
                  <a:srgbClr val="004A82"/>
                </a:solidFill>
              </a:rPr>
              <a:t>요구되는 신뢰도 수준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높은 신뢰도의 소프트웨어 개발</a:t>
            </a:r>
            <a:r>
              <a:rPr lang="en-US" altLang="ko-KR" dirty="0"/>
              <a:t>: </a:t>
            </a:r>
            <a:r>
              <a:rPr lang="ko-KR" altLang="en-US" dirty="0"/>
              <a:t>개발 비용의 증가</a:t>
            </a:r>
            <a:r>
              <a:rPr lang="en-US" altLang="ko-KR" dirty="0"/>
              <a:t> </a:t>
            </a:r>
          </a:p>
          <a:p>
            <a:pPr marL="457200" lvl="1" indent="0">
              <a:buNone/>
            </a:pPr>
            <a:r>
              <a:rPr lang="en-US" altLang="ko-KR" dirty="0"/>
              <a:t>  </a:t>
            </a:r>
          </a:p>
          <a:p>
            <a:r>
              <a:rPr lang="ko-KR" altLang="en-US" dirty="0">
                <a:solidFill>
                  <a:srgbClr val="004A82"/>
                </a:solidFill>
              </a:rPr>
              <a:t>기술 수준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고급언어 사용</a:t>
            </a:r>
            <a:r>
              <a:rPr lang="en-US" altLang="ko-KR" dirty="0"/>
              <a:t>: </a:t>
            </a:r>
            <a:r>
              <a:rPr lang="ko-KR" altLang="en-US" dirty="0"/>
              <a:t>저급 언어의 사용보다 </a:t>
            </a:r>
            <a:r>
              <a:rPr lang="en-US" altLang="ko-KR" dirty="0"/>
              <a:t>5~10</a:t>
            </a:r>
            <a:r>
              <a:rPr lang="ko-KR" altLang="en-US" dirty="0"/>
              <a:t>배의 생산성 증가</a:t>
            </a:r>
            <a:endParaRPr lang="en-US" altLang="ko-KR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i="1" dirty="0"/>
          </a:p>
        </p:txBody>
      </p:sp>
    </p:spTree>
    <p:extLst>
      <p:ext uri="{BB962C8B-B14F-4D97-AF65-F5344CB8AC3E}">
        <p14:creationId xmlns:p14="http://schemas.microsoft.com/office/powerpoint/2010/main" val="2841485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05 </a:t>
            </a:r>
            <a:r>
              <a:rPr lang="ko-KR" altLang="en-US" dirty="0"/>
              <a:t>비용 산정 기법 </a:t>
            </a:r>
            <a:r>
              <a:rPr lang="en-US" altLang="ko-KR" dirty="0"/>
              <a:t>1 : </a:t>
            </a:r>
            <a:br>
              <a:rPr lang="en-US" altLang="ko-KR" dirty="0"/>
            </a:br>
            <a:r>
              <a:rPr lang="ko-KR" altLang="en-US" dirty="0"/>
              <a:t>하향식 산정 기법</a:t>
            </a:r>
          </a:p>
        </p:txBody>
      </p:sp>
    </p:spTree>
    <p:extLst>
      <p:ext uri="{BB962C8B-B14F-4D97-AF65-F5344CB8AC3E}">
        <p14:creationId xmlns:p14="http://schemas.microsoft.com/office/powerpoint/2010/main" val="3133265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하향식 산정 기법</a:t>
            </a:r>
            <a:r>
              <a:rPr lang="ko-KR" altLang="en-US" spc="0" dirty="0">
                <a:solidFill>
                  <a:srgbClr val="FF0000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전문가 판단 기법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경험이 많은 전문가가 개발 비용을 산정      신뢰성 높음</a:t>
            </a:r>
            <a:endParaRPr lang="en-US" altLang="ko-KR" dirty="0"/>
          </a:p>
          <a:p>
            <a:pPr lvl="1"/>
            <a:r>
              <a:rPr lang="ko-KR" altLang="en-US" dirty="0"/>
              <a:t>짧은 시간에 개발비를 산정하거나 입찰에 응해야 하는 경우 많이 사용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r>
              <a:rPr lang="en-US" altLang="ko-KR" dirty="0"/>
              <a:t>: </a:t>
            </a:r>
            <a:r>
              <a:rPr lang="ko-KR" altLang="en-US" dirty="0"/>
              <a:t>수학적 계산 방법보다 경험에만 의존할 경우 부정확할 수 있음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>
                <a:solidFill>
                  <a:srgbClr val="004A82"/>
                </a:solidFill>
              </a:rPr>
              <a:t>델파이</a:t>
            </a:r>
            <a:r>
              <a:rPr lang="ko-KR" altLang="en-US" dirty="0">
                <a:solidFill>
                  <a:srgbClr val="004A82"/>
                </a:solidFill>
              </a:rPr>
              <a:t> 기법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endParaRPr lang="en-US" altLang="ko-KR" dirty="0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4436985" y="1493785"/>
            <a:ext cx="27003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4192688"/>
            <a:ext cx="7600950" cy="1952625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3536885" y="2573905"/>
            <a:ext cx="585065" cy="900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051995" y="2724554"/>
            <a:ext cx="65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보완</a:t>
            </a:r>
          </a:p>
        </p:txBody>
      </p:sp>
    </p:spTree>
    <p:extLst>
      <p:ext uri="{BB962C8B-B14F-4D97-AF65-F5344CB8AC3E}">
        <p14:creationId xmlns:p14="http://schemas.microsoft.com/office/powerpoint/2010/main" val="3796157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06 </a:t>
            </a:r>
            <a:r>
              <a:rPr lang="ko-KR" altLang="en-US" dirty="0"/>
              <a:t>비용 산정 기법 </a:t>
            </a:r>
            <a:r>
              <a:rPr lang="en-US" altLang="ko-KR" dirty="0"/>
              <a:t>2 : </a:t>
            </a:r>
            <a:br>
              <a:rPr lang="en-US" altLang="ko-KR" dirty="0"/>
            </a:br>
            <a:r>
              <a:rPr lang="ko-KR" altLang="en-US" dirty="0"/>
              <a:t>상향식 산정 기법</a:t>
            </a:r>
          </a:p>
        </p:txBody>
      </p:sp>
    </p:spTree>
    <p:extLst>
      <p:ext uri="{BB962C8B-B14F-4D97-AF65-F5344CB8AC3E}">
        <p14:creationId xmlns:p14="http://schemas.microsoft.com/office/powerpoint/2010/main" val="3860556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상향식 산정 기법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상향식 산정 기법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세부 작업 </a:t>
            </a:r>
            <a:r>
              <a:rPr lang="ko-KR" altLang="en-US" dirty="0" err="1"/>
              <a:t>단위별로</a:t>
            </a:r>
            <a:r>
              <a:rPr lang="ko-KR" altLang="en-US" dirty="0"/>
              <a:t> 비용 산정한 후 전체 비용 합산</a:t>
            </a:r>
          </a:p>
          <a:p>
            <a:pPr lvl="1"/>
            <a:r>
              <a:rPr lang="ko-KR" altLang="en-US" dirty="0"/>
              <a:t>단점</a:t>
            </a:r>
            <a:r>
              <a:rPr lang="en-US" altLang="ko-KR" dirty="0"/>
              <a:t>: </a:t>
            </a:r>
            <a:r>
              <a:rPr lang="ko-KR" altLang="en-US" dirty="0"/>
              <a:t>수학적 계산 방법보다 경험에만 의존할 경우 부정확할 수 있음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marL="93662" indent="0">
              <a:buNone/>
            </a:pPr>
            <a:r>
              <a:rPr lang="ko-KR" altLang="en-US" dirty="0">
                <a:solidFill>
                  <a:srgbClr val="004A82"/>
                </a:solidFill>
              </a:rPr>
              <a:t>① 원시 코드 라인 수</a:t>
            </a:r>
            <a:r>
              <a:rPr lang="en-US" altLang="ko-KR" baseline="30000" dirty="0">
                <a:solidFill>
                  <a:srgbClr val="004A82"/>
                </a:solidFill>
              </a:rPr>
              <a:t>LOC</a:t>
            </a:r>
            <a:r>
              <a:rPr lang="ko-KR" altLang="en-US" dirty="0">
                <a:solidFill>
                  <a:srgbClr val="004A82"/>
                </a:solidFill>
              </a:rPr>
              <a:t> 기법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원시 코드 라인 수의 비관치</a:t>
            </a:r>
            <a:r>
              <a:rPr lang="en-US" altLang="ko-KR" dirty="0"/>
              <a:t>, </a:t>
            </a:r>
            <a:r>
              <a:rPr lang="ko-KR" altLang="en-US" dirty="0"/>
              <a:t>낙관치</a:t>
            </a:r>
            <a:r>
              <a:rPr lang="en-US" altLang="ko-KR" dirty="0"/>
              <a:t>, </a:t>
            </a:r>
            <a:r>
              <a:rPr lang="ko-KR" altLang="en-US" dirty="0"/>
              <a:t>중간치를 측정 후 </a:t>
            </a:r>
            <a:r>
              <a:rPr lang="ko-KR" altLang="en-US" dirty="0" err="1"/>
              <a:t>예측치를</a:t>
            </a:r>
            <a:r>
              <a:rPr lang="ko-KR" altLang="en-US" dirty="0"/>
              <a:t> 구해 비용 산정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pPr marL="93662" indent="0">
              <a:buNone/>
            </a:pPr>
            <a:r>
              <a:rPr lang="ko-KR" altLang="en-US" dirty="0">
                <a:solidFill>
                  <a:srgbClr val="004A82"/>
                </a:solidFill>
              </a:rPr>
              <a:t>② 개발 단계별 노력</a:t>
            </a:r>
            <a:r>
              <a:rPr lang="en-US" altLang="ko-KR" baseline="30000" dirty="0">
                <a:solidFill>
                  <a:srgbClr val="004A82"/>
                </a:solidFill>
              </a:rPr>
              <a:t>effort per task</a:t>
            </a:r>
            <a:r>
              <a:rPr lang="ko-KR" altLang="en-US" dirty="0">
                <a:solidFill>
                  <a:srgbClr val="004A82"/>
                </a:solidFill>
              </a:rPr>
              <a:t> 기법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생명주기의 각 단계별로 노력</a:t>
            </a:r>
            <a:r>
              <a:rPr lang="en-US" altLang="ko-KR" dirty="0"/>
              <a:t>(M/M)</a:t>
            </a:r>
            <a:r>
              <a:rPr lang="ko-KR" altLang="en-US" dirty="0"/>
              <a:t>을 산정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81669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원시 코드 라인 수 기법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594021"/>
            <a:ext cx="8963994" cy="566995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4A82"/>
                </a:solidFill>
              </a:rPr>
              <a:t>LOC </a:t>
            </a:r>
            <a:r>
              <a:rPr lang="ko-KR" altLang="en-US" dirty="0">
                <a:solidFill>
                  <a:srgbClr val="004A82"/>
                </a:solidFill>
              </a:rPr>
              <a:t>기법</a:t>
            </a:r>
            <a:endParaRPr lang="en-US" altLang="ko-KR" dirty="0">
              <a:solidFill>
                <a:srgbClr val="004A82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sz="1600" dirty="0"/>
          </a:p>
        </p:txBody>
      </p:sp>
      <p:grpSp>
        <p:nvGrpSpPr>
          <p:cNvPr id="4" name="그룹 3"/>
          <p:cNvGrpSpPr/>
          <p:nvPr/>
        </p:nvGrpSpPr>
        <p:grpSpPr>
          <a:xfrm>
            <a:off x="290204" y="1392532"/>
            <a:ext cx="8595954" cy="391549"/>
            <a:chOff x="-243535" y="1507281"/>
            <a:chExt cx="8331464" cy="391549"/>
          </a:xfrm>
        </p:grpSpPr>
        <p:sp>
          <p:nvSpPr>
            <p:cNvPr id="5" name="직사각형 4"/>
            <p:cNvSpPr/>
            <p:nvPr/>
          </p:nvSpPr>
          <p:spPr>
            <a:xfrm>
              <a:off x="2861810" y="1538790"/>
              <a:ext cx="1485165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err="1">
                  <a:solidFill>
                    <a:schemeClr val="tx1"/>
                  </a:solidFill>
                </a:rPr>
                <a:t>예측치</a:t>
              </a:r>
              <a:r>
                <a:rPr lang="ko-KR" altLang="en-US" dirty="0">
                  <a:solidFill>
                    <a:schemeClr val="tx1"/>
                  </a:solidFill>
                </a:rPr>
                <a:t> 계산</a:t>
              </a: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-243535" y="1538790"/>
              <a:ext cx="2700300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비관</a:t>
              </a:r>
              <a:r>
                <a:rPr lang="en-US" altLang="ko-KR" dirty="0">
                  <a:solidFill>
                    <a:schemeClr val="tx1"/>
                  </a:solidFill>
                </a:rPr>
                <a:t>/</a:t>
              </a:r>
              <a:r>
                <a:rPr lang="ko-KR" altLang="en-US" dirty="0">
                  <a:solidFill>
                    <a:schemeClr val="tx1"/>
                  </a:solidFill>
                </a:rPr>
                <a:t>낙관</a:t>
              </a:r>
              <a:r>
                <a:rPr lang="en-US" altLang="ko-KR" dirty="0">
                  <a:solidFill>
                    <a:schemeClr val="tx1"/>
                  </a:solidFill>
                </a:rPr>
                <a:t>/</a:t>
              </a:r>
              <a:r>
                <a:rPr lang="ko-KR" altLang="en-US" dirty="0">
                  <a:solidFill>
                    <a:schemeClr val="tx1"/>
                  </a:solidFill>
                </a:rPr>
                <a:t>기대치 측정</a:t>
              </a:r>
            </a:p>
          </p:txBody>
        </p:sp>
        <p:cxnSp>
          <p:nvCxnSpPr>
            <p:cNvPr id="7" name="직선 화살표 연결선 6"/>
            <p:cNvCxnSpPr>
              <a:stCxn id="6" idx="3"/>
              <a:endCxn id="5" idx="1"/>
            </p:cNvCxnSpPr>
            <p:nvPr/>
          </p:nvCxnSpPr>
          <p:spPr>
            <a:xfrm>
              <a:off x="2456765" y="1718810"/>
              <a:ext cx="4050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4752020" y="1507281"/>
              <a:ext cx="3335909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비용 산정</a:t>
              </a:r>
              <a:r>
                <a:rPr lang="en-US" altLang="ko-KR" dirty="0">
                  <a:solidFill>
                    <a:schemeClr val="tx1"/>
                  </a:solidFill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</a:rPr>
                <a:t>노력</a:t>
              </a:r>
              <a:r>
                <a:rPr lang="en-US" altLang="ko-KR" sz="1600" dirty="0">
                  <a:solidFill>
                    <a:schemeClr val="tx1"/>
                  </a:solidFill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개발 비용</a:t>
              </a:r>
              <a:r>
                <a:rPr lang="en-US" altLang="ko-KR" sz="1600" dirty="0">
                  <a:solidFill>
                    <a:schemeClr val="tx1"/>
                  </a:solidFill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</a:rPr>
                <a:t>생산성</a:t>
              </a:r>
              <a:r>
                <a:rPr lang="en-US" altLang="ko-KR" sz="1600" dirty="0">
                  <a:solidFill>
                    <a:schemeClr val="tx1"/>
                  </a:solidFill>
                </a:rPr>
                <a:t>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>
              <a:off x="4346975" y="1691190"/>
              <a:ext cx="4050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14" name="직사각형 13"/>
          <p:cNvSpPr/>
          <p:nvPr/>
        </p:nvSpPr>
        <p:spPr>
          <a:xfrm>
            <a:off x="585058" y="2064446"/>
            <a:ext cx="7920880" cy="15751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ea typeface="HY강B" panose="02030600000101010101" pitchFamily="18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낙관적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모듈의 라인 수를 가장 적게 생각할 때의 예상 라인 수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가중치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부여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비관적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모듈의 라인 수를 가장 많게 생각할 때의 예상 라인 수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가중치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부여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보통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모듈의 라인 수를 보통이라고 생각할 때의 예상 라인 수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가중치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부여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추정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: 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낙관치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+(4X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중간치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)+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비관치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)/6 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1E2F23-B176-4104-A62B-A505D42EFAF5}"/>
              </a:ext>
            </a:extLst>
          </p:cNvPr>
          <p:cNvSpPr/>
          <p:nvPr/>
        </p:nvSpPr>
        <p:spPr>
          <a:xfrm>
            <a:off x="180013" y="4451054"/>
            <a:ext cx="8730970" cy="15751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ea typeface="HY강B" panose="02030600000101010101" pitchFamily="18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노력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월수 </a:t>
            </a: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M/M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)=(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참여 인원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*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개발기간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추정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LOC/1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인당 월 평균 생산 코드 라인 수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비용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(M/M)  *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비용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인당 월 평균 인건비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기간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= (M/M) /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참여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인원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생산성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LOC /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(M/M) 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8FC9C0-48E5-4B80-9EFE-86C004844900}"/>
              </a:ext>
            </a:extLst>
          </p:cNvPr>
          <p:cNvSpPr/>
          <p:nvPr/>
        </p:nvSpPr>
        <p:spPr>
          <a:xfrm>
            <a:off x="296525" y="4498337"/>
            <a:ext cx="8730970" cy="15751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ea typeface="HY강B" panose="02030600000101010101" pitchFamily="18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노력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월수 </a:t>
            </a: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M/M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)=(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참여 인원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*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개발기간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추정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LOC/1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인당 월 평균 생산 코드 라인 수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비용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(M/M)  *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비용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인당 월 평균 인건비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기간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= (M/M) /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참여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인원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생산성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LOC /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(M/M) 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7374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원시 코드 라인 수 기법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소프트웨어 개발 기간은 </a:t>
            </a:r>
            <a:r>
              <a:rPr lang="en-US" altLang="ko-KR" dirty="0"/>
              <a:t>1</a:t>
            </a:r>
            <a:r>
              <a:rPr lang="ko-KR" altLang="en-US" dirty="0"/>
              <a:t>년</a:t>
            </a:r>
            <a:r>
              <a:rPr lang="en-US" altLang="ko-KR" dirty="0"/>
              <a:t>(12</a:t>
            </a:r>
            <a:r>
              <a:rPr lang="ko-KR" altLang="en-US" dirty="0"/>
              <a:t>개월</a:t>
            </a:r>
            <a:r>
              <a:rPr lang="en-US" altLang="ko-KR" dirty="0"/>
              <a:t>)</a:t>
            </a:r>
            <a:r>
              <a:rPr lang="ko-KR" altLang="en-US" dirty="0"/>
              <a:t>이다</a:t>
            </a:r>
            <a:r>
              <a:rPr lang="en-US" altLang="ko-KR" dirty="0"/>
              <a:t>. 5</a:t>
            </a:r>
            <a:r>
              <a:rPr lang="ko-KR" altLang="en-US" dirty="0"/>
              <a:t>명의 개발자가 </a:t>
            </a:r>
            <a:r>
              <a:rPr lang="en-US" altLang="ko-KR" dirty="0"/>
              <a:t>12</a:t>
            </a:r>
            <a:r>
              <a:rPr lang="ko-KR" altLang="en-US" dirty="0"/>
              <a:t>개월 동안</a:t>
            </a:r>
            <a:r>
              <a:rPr lang="en-US" altLang="ko-KR" dirty="0"/>
              <a:t>, 7</a:t>
            </a:r>
            <a:r>
              <a:rPr lang="ko-KR" altLang="en-US" dirty="0"/>
              <a:t>명의 개발자가 </a:t>
            </a:r>
            <a:r>
              <a:rPr lang="en-US" altLang="ko-KR" dirty="0"/>
              <a:t>5</a:t>
            </a:r>
            <a:r>
              <a:rPr lang="ko-KR" altLang="en-US" dirty="0"/>
              <a:t>개월 동안 참여한다면 이 소프트웨어의 개발의 노력 </a:t>
            </a:r>
            <a:r>
              <a:rPr lang="en-US" altLang="ko-KR" dirty="0"/>
              <a:t>M/M </a:t>
            </a:r>
            <a:r>
              <a:rPr lang="ko-KR" altLang="en-US" dirty="0"/>
              <a:t>은 얼마인가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LOC </a:t>
            </a:r>
            <a:r>
              <a:rPr lang="ko-KR" altLang="en-US" dirty="0"/>
              <a:t>기법에 의해 예측한 총 라인이 </a:t>
            </a:r>
            <a:r>
              <a:rPr lang="en-US" altLang="ko-KR" dirty="0"/>
              <a:t>50,000</a:t>
            </a:r>
            <a:r>
              <a:rPr lang="ko-KR" altLang="en-US" dirty="0"/>
              <a:t>라인이고</a:t>
            </a:r>
            <a:r>
              <a:rPr lang="en-US" altLang="ko-KR" dirty="0"/>
              <a:t>, </a:t>
            </a:r>
            <a:r>
              <a:rPr lang="ko-KR" altLang="en-US" dirty="0"/>
              <a:t>개발자가 </a:t>
            </a:r>
            <a:r>
              <a:rPr lang="en-US" altLang="ko-KR" dirty="0"/>
              <a:t>10</a:t>
            </a:r>
            <a:r>
              <a:rPr lang="ko-KR" altLang="en-US" dirty="0"/>
              <a:t>명 참여한다</a:t>
            </a:r>
            <a:r>
              <a:rPr lang="en-US" altLang="ko-KR" dirty="0"/>
              <a:t>. </a:t>
            </a:r>
            <a:r>
              <a:rPr lang="ko-KR" altLang="en-US" dirty="0"/>
              <a:t>그리고 개발자들이 월 평균 </a:t>
            </a:r>
            <a:r>
              <a:rPr lang="en-US" altLang="ko-KR" dirty="0"/>
              <a:t>500</a:t>
            </a:r>
            <a:r>
              <a:rPr lang="ko-KR" altLang="en-US" dirty="0"/>
              <a:t>라인을</a:t>
            </a:r>
            <a:r>
              <a:rPr lang="en-US" altLang="ko-KR" dirty="0"/>
              <a:t> </a:t>
            </a:r>
            <a:r>
              <a:rPr lang="ko-KR" altLang="en-US" dirty="0"/>
              <a:t>코딩한다면</a:t>
            </a:r>
            <a:r>
              <a:rPr lang="en-US" altLang="ko-KR" dirty="0"/>
              <a:t> </a:t>
            </a:r>
            <a:r>
              <a:rPr lang="ko-KR" altLang="en-US" dirty="0"/>
              <a:t>개발 기간은 얼마나 되는가</a:t>
            </a:r>
            <a:r>
              <a:rPr lang="en-US" altLang="ko-KR" dirty="0"/>
              <a:t>?</a:t>
            </a:r>
            <a:endParaRPr lang="ko-KR" altLang="en-US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sz="16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7AD077-0479-421C-9200-A32B9624F72A}"/>
              </a:ext>
            </a:extLst>
          </p:cNvPr>
          <p:cNvSpPr/>
          <p:nvPr/>
        </p:nvSpPr>
        <p:spPr>
          <a:xfrm>
            <a:off x="296525" y="638690"/>
            <a:ext cx="8730970" cy="15751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ea typeface="HY강B" panose="02030600000101010101" pitchFamily="18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노력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월수 </a:t>
            </a: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M/M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)=(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참여 인원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*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개발기간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추정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LOC/1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인당 월 평균 생산 코드 라인 수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비용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(M/M)  *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비용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인당 월 평균 인건비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기간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= (M/M) /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참여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인원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생산성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LOC /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(M/M) 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1235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개발 단계별 노력</a:t>
            </a:r>
            <a:r>
              <a:rPr lang="en-US" altLang="ko-KR" dirty="0"/>
              <a:t>(M/M)</a:t>
            </a:r>
            <a:r>
              <a:rPr lang="ko-KR" altLang="en-US" dirty="0"/>
              <a:t>기법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4A82"/>
                </a:solidFill>
              </a:rPr>
              <a:t>LOC</a:t>
            </a:r>
          </a:p>
          <a:p>
            <a:pPr lvl="1"/>
            <a:r>
              <a:rPr lang="ko-KR" altLang="en-US" dirty="0"/>
              <a:t>개발하려는 소프트웨어의 총 코드 라인 수를 예측하여 구현 단계에 대한 </a:t>
            </a:r>
            <a:r>
              <a:rPr lang="en-US" altLang="ko-KR" dirty="0"/>
              <a:t>M /M</a:t>
            </a:r>
            <a:r>
              <a:rPr lang="ko-KR" altLang="en-US" dirty="0"/>
              <a:t>을 산정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실제 소프트웨어 개발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코딩뿐 아니라 요구 분석</a:t>
            </a:r>
            <a:r>
              <a:rPr lang="en-US" altLang="ko-KR" dirty="0"/>
              <a:t>, </a:t>
            </a:r>
            <a:r>
              <a:rPr lang="ko-KR" altLang="en-US" dirty="0"/>
              <a:t>설계 등의 단계에서도 인력과 자원이 많이 필요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개발 단계별 노력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  <a:r>
              <a:rPr lang="ko-KR" altLang="en-US" dirty="0">
                <a:solidFill>
                  <a:srgbClr val="004A82"/>
                </a:solidFill>
              </a:rPr>
              <a:t>기법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en-US" altLang="ko-KR" dirty="0"/>
              <a:t>M/M</a:t>
            </a:r>
            <a:r>
              <a:rPr lang="ko-KR" altLang="en-US" dirty="0"/>
              <a:t>을 소프트웨어 개발 생명주기의 각 단계에 적용하여 단계별로 산정</a:t>
            </a:r>
            <a:endParaRPr lang="en-US" altLang="ko-KR" dirty="0"/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코딩만 대상으로 산정하는 </a:t>
            </a:r>
            <a:r>
              <a:rPr lang="en-US" altLang="ko-KR" dirty="0"/>
              <a:t>LOC</a:t>
            </a:r>
            <a:r>
              <a:rPr lang="ko-KR" altLang="en-US" dirty="0"/>
              <a:t>보다 더 정확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11" name="아래쪽 화살표 10"/>
          <p:cNvSpPr/>
          <p:nvPr/>
        </p:nvSpPr>
        <p:spPr>
          <a:xfrm>
            <a:off x="3536885" y="3203975"/>
            <a:ext cx="585065" cy="900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031940" y="3424018"/>
            <a:ext cx="1174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</a:t>
            </a:r>
            <a:r>
              <a:rPr lang="ko-KR" altLang="en-US" sz="1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보완</a:t>
            </a:r>
          </a:p>
        </p:txBody>
      </p:sp>
    </p:spTree>
    <p:extLst>
      <p:ext uri="{BB962C8B-B14F-4D97-AF65-F5344CB8AC3E}">
        <p14:creationId xmlns:p14="http://schemas.microsoft.com/office/powerpoint/2010/main" val="3373378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07 </a:t>
            </a:r>
            <a:r>
              <a:rPr lang="ko-KR" altLang="en-US" dirty="0"/>
              <a:t>비용 산정 기법 </a:t>
            </a:r>
            <a:r>
              <a:rPr lang="en-US" altLang="ko-KR" dirty="0"/>
              <a:t>3 : </a:t>
            </a:r>
            <a:br>
              <a:rPr lang="en-US" altLang="ko-KR" dirty="0"/>
            </a:br>
            <a:r>
              <a:rPr lang="ko-KR" altLang="en-US" dirty="0"/>
              <a:t>수학적 산정 기법</a:t>
            </a:r>
          </a:p>
        </p:txBody>
      </p:sp>
    </p:spTree>
    <p:extLst>
      <p:ext uri="{BB962C8B-B14F-4D97-AF65-F5344CB8AC3E}">
        <p14:creationId xmlns:p14="http://schemas.microsoft.com/office/powerpoint/2010/main" val="901553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수학적 산정 기법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 dirty="0"/>
              <a:t>상향식 비용 산정 기법</a:t>
            </a:r>
            <a:endParaRPr lang="en-US" altLang="ko-KR" dirty="0"/>
          </a:p>
          <a:p>
            <a:pPr lvl="1"/>
            <a:r>
              <a:rPr lang="ko-KR" altLang="en-US" dirty="0"/>
              <a:t>경험적 추정 기법 또는 실험적 추정 기법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93662" indent="0">
              <a:buNone/>
            </a:pPr>
            <a:r>
              <a:rPr lang="en-US" altLang="ko-KR" dirty="0">
                <a:solidFill>
                  <a:srgbClr val="004A82"/>
                </a:solidFill>
              </a:rPr>
              <a:t>① COCOMO </a:t>
            </a:r>
            <a:r>
              <a:rPr lang="ko-KR" altLang="en-US" dirty="0">
                <a:solidFill>
                  <a:srgbClr val="004A82"/>
                </a:solidFill>
              </a:rPr>
              <a:t>방법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en-US" altLang="ko-KR" dirty="0"/>
              <a:t>SW</a:t>
            </a:r>
            <a:r>
              <a:rPr lang="ko-KR" altLang="en-US" dirty="0"/>
              <a:t> 규모</a:t>
            </a:r>
            <a:r>
              <a:rPr lang="en-US" altLang="ko-KR" dirty="0"/>
              <a:t>(LOC)</a:t>
            </a:r>
            <a:r>
              <a:rPr lang="ko-KR" altLang="en-US" dirty="0"/>
              <a:t> 예측한 후 </a:t>
            </a:r>
            <a:r>
              <a:rPr lang="en-US" altLang="ko-KR" dirty="0"/>
              <a:t>SW</a:t>
            </a:r>
            <a:r>
              <a:rPr lang="ko-KR" altLang="en-US" dirty="0"/>
              <a:t> 종류에 따라 각 비용 산정 공식에 대입하여 비용 산정</a:t>
            </a:r>
            <a:endParaRPr lang="en-US" altLang="ko-KR" dirty="0"/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marL="93662" indent="0">
              <a:buNone/>
            </a:pPr>
            <a:r>
              <a:rPr lang="en-US" altLang="ko-KR" dirty="0">
                <a:solidFill>
                  <a:srgbClr val="004A82"/>
                </a:solidFill>
              </a:rPr>
              <a:t>② Putnam</a:t>
            </a:r>
            <a:r>
              <a:rPr lang="ko-KR" altLang="en-US" dirty="0">
                <a:solidFill>
                  <a:srgbClr val="004A82"/>
                </a:solidFill>
              </a:rPr>
              <a:t>방법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소프트웨어 생명주기의 전 과정에 사용될 노력의 분포를 </a:t>
            </a:r>
            <a:r>
              <a:rPr lang="ko-KR" altLang="en-US">
                <a:solidFill>
                  <a:srgbClr val="FF0000"/>
                </a:solidFill>
              </a:rPr>
              <a:t>가정해 줌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pPr marL="93662" indent="0">
              <a:buNone/>
            </a:pPr>
            <a:r>
              <a:rPr lang="ko-KR" altLang="en-US" dirty="0">
                <a:solidFill>
                  <a:srgbClr val="004A82"/>
                </a:solidFill>
              </a:rPr>
              <a:t>③ 기능 점수</a:t>
            </a:r>
            <a:r>
              <a:rPr lang="en-US" altLang="ko-KR" dirty="0">
                <a:solidFill>
                  <a:srgbClr val="004A82"/>
                </a:solidFill>
              </a:rPr>
              <a:t>(FP)</a:t>
            </a:r>
            <a:r>
              <a:rPr lang="ko-KR" altLang="en-US" dirty="0">
                <a:solidFill>
                  <a:srgbClr val="004A82"/>
                </a:solidFill>
              </a:rPr>
              <a:t> 방법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기능 점수를 구한 후 이를 이용해 비용 산정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947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COCOMO </a:t>
            </a:r>
            <a:r>
              <a:rPr lang="ko-KR" altLang="en-US" dirty="0"/>
              <a:t>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4A82"/>
                </a:solidFill>
              </a:rPr>
              <a:t>COCOMO </a:t>
            </a:r>
            <a:r>
              <a:rPr lang="ko-KR" altLang="en-US" dirty="0">
                <a:solidFill>
                  <a:srgbClr val="004A82"/>
                </a:solidFill>
              </a:rPr>
              <a:t>방법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 err="1"/>
              <a:t>라인수</a:t>
            </a:r>
            <a:r>
              <a:rPr lang="ko-KR" altLang="en-US" dirty="0"/>
              <a:t> 중심의 개발비 산정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개발비 산정 시 고려 사항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프로그램 유형</a:t>
            </a:r>
            <a:r>
              <a:rPr lang="en-US" altLang="ko-KR" dirty="0"/>
              <a:t>(</a:t>
            </a:r>
            <a:r>
              <a:rPr lang="ko-KR" altLang="en-US" dirty="0"/>
              <a:t>난이도</a:t>
            </a:r>
            <a:r>
              <a:rPr lang="en-US" altLang="ko-KR" dirty="0"/>
              <a:t>)</a:t>
            </a:r>
            <a:r>
              <a:rPr lang="ko-KR" altLang="en-US" dirty="0"/>
              <a:t>에 따른 가중치</a:t>
            </a:r>
            <a:endParaRPr lang="en-US" altLang="ko-KR" dirty="0"/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691679" y="1992728"/>
            <a:ext cx="5801118" cy="391549"/>
            <a:chOff x="1195932" y="1507281"/>
            <a:chExt cx="5622623" cy="391549"/>
          </a:xfrm>
        </p:grpSpPr>
        <p:sp>
          <p:nvSpPr>
            <p:cNvPr id="7" name="직사각형 6"/>
            <p:cNvSpPr/>
            <p:nvPr/>
          </p:nvSpPr>
          <p:spPr>
            <a:xfrm>
              <a:off x="2861810" y="1538790"/>
              <a:ext cx="2178700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준비된 식에 대입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195932" y="1538790"/>
              <a:ext cx="1260833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LOC</a:t>
              </a:r>
              <a:r>
                <a:rPr lang="ko-KR" altLang="en-US" dirty="0">
                  <a:solidFill>
                    <a:schemeClr val="tx1"/>
                  </a:solidFill>
                </a:rPr>
                <a:t>추정</a:t>
              </a:r>
            </a:p>
          </p:txBody>
        </p:sp>
        <p:cxnSp>
          <p:nvCxnSpPr>
            <p:cNvPr id="9" name="직선 화살표 연결선 8"/>
            <p:cNvCxnSpPr>
              <a:stCxn id="8" idx="3"/>
              <a:endCxn id="7" idx="1"/>
            </p:cNvCxnSpPr>
            <p:nvPr/>
          </p:nvCxnSpPr>
          <p:spPr>
            <a:xfrm>
              <a:off x="2456765" y="1718810"/>
              <a:ext cx="4050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5445556" y="1507281"/>
              <a:ext cx="1372999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M/M</a:t>
              </a:r>
              <a:r>
                <a:rPr lang="ko-KR" altLang="en-US" dirty="0">
                  <a:solidFill>
                    <a:schemeClr val="tx1"/>
                  </a:solidFill>
                </a:rPr>
                <a:t>예측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직선 화살표 연결선 12"/>
            <p:cNvCxnSpPr/>
            <p:nvPr/>
          </p:nvCxnSpPr>
          <p:spPr>
            <a:xfrm>
              <a:off x="5040511" y="1718810"/>
              <a:ext cx="4050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386" y="4194085"/>
            <a:ext cx="51339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69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COCOMO </a:t>
            </a:r>
            <a:r>
              <a:rPr lang="ko-KR" altLang="en-US" dirty="0"/>
              <a:t>방법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 dirty="0"/>
              <a:t>네 가지 특성에 따른 </a:t>
            </a:r>
            <a:r>
              <a:rPr lang="en-US" altLang="ko-KR" dirty="0"/>
              <a:t>15</a:t>
            </a:r>
            <a:r>
              <a:rPr lang="ko-KR" altLang="en-US" dirty="0"/>
              <a:t>가지 분류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85" y="1313765"/>
            <a:ext cx="6660740" cy="544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202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 COCOMO </a:t>
            </a:r>
            <a:r>
              <a:rPr lang="ko-KR" altLang="en-US" dirty="0"/>
              <a:t>방법을 이용한 총 개발 기간 산정 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93662" indent="0">
              <a:buNone/>
            </a:pPr>
            <a:r>
              <a:rPr lang="en-US" altLang="ko-KR" dirty="0">
                <a:solidFill>
                  <a:srgbClr val="004A82"/>
                </a:solidFill>
              </a:rPr>
              <a:t>① </a:t>
            </a:r>
            <a:r>
              <a:rPr lang="ko-KR" altLang="en-US" dirty="0">
                <a:solidFill>
                  <a:srgbClr val="004A82"/>
                </a:solidFill>
              </a:rPr>
              <a:t>가중치 반영하기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프로그램의 규모 </a:t>
            </a:r>
            <a:r>
              <a:rPr lang="en-US" altLang="ko-KR" dirty="0"/>
              <a:t>LOC</a:t>
            </a:r>
            <a:r>
              <a:rPr lang="ko-KR" altLang="en-US" dirty="0"/>
              <a:t>에 가중치가 반영된 초기 개발 인건비</a:t>
            </a:r>
            <a:r>
              <a:rPr lang="en-US" altLang="ko-KR" dirty="0"/>
              <a:t>M/M </a:t>
            </a:r>
            <a:r>
              <a:rPr lang="ko-KR" altLang="en-US" dirty="0"/>
              <a:t>산정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 </a:t>
            </a:r>
            <a:endParaRPr lang="en-US" altLang="ko-KR" dirty="0"/>
          </a:p>
          <a:p>
            <a:pPr marL="93662" indent="0">
              <a:buNone/>
            </a:pPr>
            <a:r>
              <a:rPr lang="en-US" altLang="ko-KR" dirty="0">
                <a:solidFill>
                  <a:srgbClr val="004A82"/>
                </a:solidFill>
              </a:rPr>
              <a:t>② </a:t>
            </a:r>
            <a:r>
              <a:rPr lang="ko-KR" altLang="en-US" dirty="0">
                <a:solidFill>
                  <a:srgbClr val="004A82"/>
                </a:solidFill>
              </a:rPr>
              <a:t>보정 계수 반영 하기</a:t>
            </a:r>
            <a:endParaRPr lang="en-US" altLang="ko-KR" dirty="0">
              <a:solidFill>
                <a:srgbClr val="004A82"/>
              </a:solidFill>
            </a:endParaRPr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marL="93662" indent="0">
              <a:buNone/>
            </a:pPr>
            <a:r>
              <a:rPr lang="ko-KR" altLang="en-US" dirty="0">
                <a:solidFill>
                  <a:srgbClr val="004A82"/>
                </a:solidFill>
              </a:rPr>
              <a:t>③ 총 개발 기간 산정하기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196625" y="2108744"/>
            <a:ext cx="6684449" cy="360276"/>
            <a:chOff x="386535" y="1538554"/>
            <a:chExt cx="6684449" cy="360276"/>
          </a:xfrm>
        </p:grpSpPr>
        <p:sp>
          <p:nvSpPr>
            <p:cNvPr id="12" name="직사각형 11"/>
            <p:cNvSpPr/>
            <p:nvPr/>
          </p:nvSpPr>
          <p:spPr>
            <a:xfrm>
              <a:off x="2254242" y="1538790"/>
              <a:ext cx="2947827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유형에 따른 가중치 부여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86535" y="1538790"/>
              <a:ext cx="1260140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LOC</a:t>
              </a:r>
              <a:r>
                <a:rPr lang="ko-KR" altLang="en-US" dirty="0">
                  <a:solidFill>
                    <a:schemeClr val="tx1"/>
                  </a:solidFill>
                </a:rPr>
                <a:t> 예상</a:t>
              </a:r>
            </a:p>
          </p:txBody>
        </p:sp>
        <p:cxnSp>
          <p:nvCxnSpPr>
            <p:cNvPr id="15" name="직선 화살표 연결선 14"/>
            <p:cNvCxnSpPr>
              <a:stCxn id="14" idx="3"/>
            </p:cNvCxnSpPr>
            <p:nvPr/>
          </p:nvCxnSpPr>
          <p:spPr>
            <a:xfrm>
              <a:off x="1646675" y="1718810"/>
              <a:ext cx="6075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6" name="직사각형 15"/>
            <p:cNvSpPr/>
            <p:nvPr/>
          </p:nvSpPr>
          <p:spPr>
            <a:xfrm>
              <a:off x="5705654" y="1538554"/>
              <a:ext cx="1365330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M/M</a:t>
              </a:r>
              <a:r>
                <a:rPr lang="ko-KR" altLang="en-US" dirty="0">
                  <a:solidFill>
                    <a:schemeClr val="tx1"/>
                  </a:solidFill>
                </a:rPr>
                <a:t>계산</a:t>
              </a:r>
            </a:p>
          </p:txBody>
        </p:sp>
        <p:cxnSp>
          <p:nvCxnSpPr>
            <p:cNvPr id="18" name="직선 화살표 연결선 17"/>
            <p:cNvCxnSpPr/>
            <p:nvPr/>
          </p:nvCxnSpPr>
          <p:spPr>
            <a:xfrm>
              <a:off x="5202069" y="1718810"/>
              <a:ext cx="4950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21" name="그룹 20"/>
          <p:cNvGrpSpPr/>
          <p:nvPr/>
        </p:nvGrpSpPr>
        <p:grpSpPr>
          <a:xfrm>
            <a:off x="979507" y="3699266"/>
            <a:ext cx="7117476" cy="360276"/>
            <a:chOff x="-46492" y="1538554"/>
            <a:chExt cx="7117476" cy="360276"/>
          </a:xfrm>
        </p:grpSpPr>
        <p:sp>
          <p:nvSpPr>
            <p:cNvPr id="22" name="직사각형 21"/>
            <p:cNvSpPr/>
            <p:nvPr/>
          </p:nvSpPr>
          <p:spPr>
            <a:xfrm>
              <a:off x="2833827" y="1538790"/>
              <a:ext cx="2368242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</a:rPr>
                <a:t>노력 조정 수치 반영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-46492" y="1538790"/>
              <a:ext cx="2272752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가중치 반영된 </a:t>
              </a:r>
              <a:r>
                <a:rPr lang="en-US" altLang="ko-KR" dirty="0">
                  <a:solidFill>
                    <a:schemeClr val="tx1"/>
                  </a:solidFill>
                </a:rPr>
                <a:t>M/M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24" name="직선 화살표 연결선 23"/>
            <p:cNvCxnSpPr/>
            <p:nvPr/>
          </p:nvCxnSpPr>
          <p:spPr>
            <a:xfrm>
              <a:off x="2226260" y="1718810"/>
              <a:ext cx="6075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5" name="직사각형 24"/>
            <p:cNvSpPr/>
            <p:nvPr/>
          </p:nvSpPr>
          <p:spPr>
            <a:xfrm>
              <a:off x="5705654" y="1538554"/>
              <a:ext cx="1365330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P/M</a:t>
              </a:r>
              <a:r>
                <a:rPr lang="ko-KR" altLang="en-US" dirty="0">
                  <a:solidFill>
                    <a:schemeClr val="tx1"/>
                  </a:solidFill>
                </a:rPr>
                <a:t>계산</a:t>
              </a:r>
            </a:p>
          </p:txBody>
        </p:sp>
        <p:cxnSp>
          <p:nvCxnSpPr>
            <p:cNvPr id="26" name="직선 화살표 연결선 25"/>
            <p:cNvCxnSpPr/>
            <p:nvPr/>
          </p:nvCxnSpPr>
          <p:spPr>
            <a:xfrm>
              <a:off x="5202069" y="1718810"/>
              <a:ext cx="4950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27" name="그룹 26"/>
          <p:cNvGrpSpPr/>
          <p:nvPr/>
        </p:nvGrpSpPr>
        <p:grpSpPr>
          <a:xfrm>
            <a:off x="1273392" y="5500228"/>
            <a:ext cx="6529705" cy="382161"/>
            <a:chOff x="-46492" y="1516669"/>
            <a:chExt cx="6241539" cy="382161"/>
          </a:xfrm>
        </p:grpSpPr>
        <p:sp>
          <p:nvSpPr>
            <p:cNvPr id="28" name="직사각형 27"/>
            <p:cNvSpPr/>
            <p:nvPr/>
          </p:nvSpPr>
          <p:spPr>
            <a:xfrm>
              <a:off x="1990981" y="1516669"/>
              <a:ext cx="1724531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동일 상수 적용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-46492" y="1538790"/>
              <a:ext cx="1395967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계산된 </a:t>
              </a:r>
              <a:r>
                <a:rPr lang="en-US" altLang="ko-KR" dirty="0">
                  <a:solidFill>
                    <a:schemeClr val="tx1"/>
                  </a:solidFill>
                </a:rPr>
                <a:t>P/M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직선 화살표 연결선 29"/>
            <p:cNvCxnSpPr/>
            <p:nvPr/>
          </p:nvCxnSpPr>
          <p:spPr>
            <a:xfrm>
              <a:off x="1349475" y="1696689"/>
              <a:ext cx="6075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31" name="직사각형 30"/>
            <p:cNvSpPr/>
            <p:nvPr/>
          </p:nvSpPr>
          <p:spPr>
            <a:xfrm>
              <a:off x="4195823" y="1516669"/>
              <a:ext cx="1999224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총 개발 기간 산정 </a:t>
              </a: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>
              <a:off x="3715512" y="1696689"/>
              <a:ext cx="4803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509579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2-2 </a:t>
            </a:r>
            <a:r>
              <a:rPr lang="ko-KR" altLang="en-US" dirty="0"/>
              <a:t>프로젝트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단순형 프로젝트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복잡도와 난이도가 비교적 높지 않은 업무용 소프트웨어</a:t>
            </a:r>
            <a:endParaRPr lang="en-US" altLang="ko-KR" dirty="0"/>
          </a:p>
          <a:p>
            <a:pPr lvl="1"/>
            <a:r>
              <a:rPr lang="ko-KR" altLang="en-US" dirty="0"/>
              <a:t>크기는 중소 규모 정도</a:t>
            </a:r>
            <a:r>
              <a:rPr lang="en-US" altLang="ko-KR" dirty="0"/>
              <a:t>, </a:t>
            </a:r>
            <a:r>
              <a:rPr lang="ko-KR" altLang="en-US" dirty="0"/>
              <a:t>크기는 </a:t>
            </a:r>
            <a:r>
              <a:rPr lang="en-US" altLang="ko-KR" dirty="0"/>
              <a:t>50KDSI </a:t>
            </a:r>
            <a:r>
              <a:rPr lang="ko-KR" altLang="en-US" dirty="0"/>
              <a:t>이하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중간형 프로젝트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규모나 복잡도가 </a:t>
            </a:r>
            <a:r>
              <a:rPr lang="ko-KR" altLang="en-US" dirty="0" err="1"/>
              <a:t>중간급</a:t>
            </a:r>
            <a:r>
              <a:rPr lang="ko-KR" altLang="en-US" dirty="0"/>
              <a:t> 정도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300KDSI </a:t>
            </a:r>
            <a:r>
              <a:rPr lang="ko-KR" altLang="en-US" dirty="0"/>
              <a:t>이하</a:t>
            </a:r>
            <a:endParaRPr lang="en-US" altLang="ko-KR" dirty="0"/>
          </a:p>
          <a:p>
            <a:pPr lvl="1"/>
            <a:r>
              <a:rPr lang="ko-KR" altLang="en-US" dirty="0"/>
              <a:t>운영체제</a:t>
            </a:r>
            <a:r>
              <a:rPr lang="en-US" altLang="ko-KR" dirty="0"/>
              <a:t>, </a:t>
            </a:r>
            <a:r>
              <a:rPr lang="ko-KR" altLang="en-US" dirty="0"/>
              <a:t>데이터베이스 관리 프로그램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내장형 프로젝트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자동화 기기</a:t>
            </a:r>
            <a:r>
              <a:rPr lang="en-US" altLang="ko-KR" dirty="0"/>
              <a:t>, </a:t>
            </a:r>
            <a:r>
              <a:rPr lang="ko-KR" altLang="en-US" dirty="0"/>
              <a:t>전자 제품과 같은 하드웨어와 밀접하게 관련 있는 소프트웨어</a:t>
            </a:r>
            <a:endParaRPr lang="en-US" altLang="ko-KR" dirty="0"/>
          </a:p>
          <a:p>
            <a:pPr lvl="1"/>
            <a:r>
              <a:rPr lang="ko-KR" altLang="en-US" dirty="0"/>
              <a:t>크기 </a:t>
            </a:r>
            <a:r>
              <a:rPr lang="en-US" altLang="ko-KR" dirty="0"/>
              <a:t>300KDSI </a:t>
            </a:r>
            <a:r>
              <a:rPr lang="ko-KR" altLang="en-US" dirty="0"/>
              <a:t>이상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 </a:t>
            </a:r>
            <a:endParaRPr lang="en-US" altLang="ko-KR" dirty="0"/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241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2-3 </a:t>
            </a:r>
            <a:r>
              <a:rPr lang="ko-KR" altLang="en-US" dirty="0"/>
              <a:t>가중치 반영하기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개발 인건비의 초기 예측 값 산출 방법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endParaRPr lang="en-US" altLang="ko-KR" dirty="0"/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710" y="1634988"/>
            <a:ext cx="51339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07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2-3 </a:t>
            </a:r>
            <a:r>
              <a:rPr lang="ko-KR" altLang="en-US" dirty="0"/>
              <a:t>가중치 반영하기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유형별 </a:t>
            </a:r>
            <a:r>
              <a:rPr lang="en-US" altLang="ko-KR" dirty="0">
                <a:solidFill>
                  <a:srgbClr val="004A82"/>
                </a:solidFill>
              </a:rPr>
              <a:t>M/M</a:t>
            </a:r>
          </a:p>
          <a:p>
            <a:pPr lvl="1"/>
            <a:r>
              <a:rPr lang="ko-KR" altLang="en-US" dirty="0"/>
              <a:t>단순형 </a:t>
            </a:r>
            <a:r>
              <a:rPr lang="en-US" altLang="ko-KR" dirty="0"/>
              <a:t>&lt; </a:t>
            </a:r>
            <a:r>
              <a:rPr lang="ko-KR" altLang="en-US" dirty="0"/>
              <a:t>중간형 </a:t>
            </a:r>
            <a:r>
              <a:rPr lang="en-US" altLang="ko-KR" dirty="0"/>
              <a:t>&lt; </a:t>
            </a:r>
            <a:r>
              <a:rPr lang="ko-KR" altLang="en-US" dirty="0"/>
              <a:t>내장형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705" y="2123855"/>
            <a:ext cx="5323448" cy="405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77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2-4 </a:t>
            </a:r>
            <a:r>
              <a:rPr lang="ko-KR" altLang="en-US" dirty="0"/>
              <a:t>보정 계수 반영하기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노력 조정 수치</a:t>
            </a:r>
            <a:r>
              <a:rPr lang="en-US" altLang="ko-KR" baseline="30000" dirty="0">
                <a:solidFill>
                  <a:srgbClr val="004A82"/>
                </a:solidFill>
              </a:rPr>
              <a:t>EAF: Effort Adjustment Factor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보정에 사용되는 값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(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</a:p>
          <a:p>
            <a:pPr lvl="1"/>
            <a:endParaRPr lang="en-US" altLang="ko-KR" dirty="0"/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836113" y="5814265"/>
            <a:ext cx="7117476" cy="360276"/>
            <a:chOff x="-46492" y="1538554"/>
            <a:chExt cx="7117476" cy="360276"/>
          </a:xfrm>
        </p:grpSpPr>
        <p:sp>
          <p:nvSpPr>
            <p:cNvPr id="6" name="직사각형 5"/>
            <p:cNvSpPr/>
            <p:nvPr/>
          </p:nvSpPr>
          <p:spPr>
            <a:xfrm>
              <a:off x="2833827" y="1538790"/>
              <a:ext cx="2368242" cy="36004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</a:rPr>
                <a:t>노력 조정 수치 반영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-46492" y="1538790"/>
              <a:ext cx="2272752" cy="36004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가중치 반영된 </a:t>
              </a:r>
              <a:r>
                <a:rPr lang="en-US" altLang="ko-KR" dirty="0">
                  <a:solidFill>
                    <a:schemeClr val="tx1"/>
                  </a:solidFill>
                </a:rPr>
                <a:t>M/M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2226260" y="1718810"/>
              <a:ext cx="6075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9" name="직사각형 8"/>
            <p:cNvSpPr/>
            <p:nvPr/>
          </p:nvSpPr>
          <p:spPr>
            <a:xfrm>
              <a:off x="5705654" y="1538554"/>
              <a:ext cx="1365330" cy="36004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P/M</a:t>
              </a:r>
              <a:r>
                <a:rPr lang="ko-KR" altLang="en-US" dirty="0">
                  <a:solidFill>
                    <a:schemeClr val="tx1"/>
                  </a:solidFill>
                </a:rPr>
                <a:t>계산</a:t>
              </a: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>
              <a:off x="5202069" y="1718810"/>
              <a:ext cx="4950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1" name="직사각형 10"/>
          <p:cNvSpPr/>
          <p:nvPr/>
        </p:nvSpPr>
        <p:spPr>
          <a:xfrm>
            <a:off x="836585" y="1808820"/>
            <a:ext cx="7155795" cy="5400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노력조정 수치</a:t>
            </a:r>
            <a:r>
              <a:rPr lang="en-US" altLang="ko-KR" baseline="30000" dirty="0">
                <a:solidFill>
                  <a:schemeClr val="tx1"/>
                </a:solidFill>
              </a:rPr>
              <a:t>EAF</a:t>
            </a:r>
            <a:r>
              <a:rPr lang="en-US" altLang="ko-KR" dirty="0">
                <a:solidFill>
                  <a:schemeClr val="tx1"/>
                </a:solidFill>
              </a:rPr>
              <a:t> = </a:t>
            </a:r>
            <a:r>
              <a:rPr lang="ko-KR" altLang="en-US" dirty="0">
                <a:solidFill>
                  <a:schemeClr val="tx1"/>
                </a:solidFill>
              </a:rPr>
              <a:t>필요한 각 항목에 승수 값을 모두 곱한 값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36113" y="3068960"/>
            <a:ext cx="7155795" cy="22052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+mn-ea"/>
              </a:rPr>
              <a:t>개발하려는 소프트웨어에 요구되는 신뢰도가 높고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(1.15),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매우 복잡하며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(1.30),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소프트웨어공학 기술을 거의 사용하지 않고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(1.24),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요구되는 개발 일정이 매우 촉박하고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(1.10),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다른 요소들은 보통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(1.00)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일 경우의 노력 조정 수치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?</a:t>
            </a:r>
          </a:p>
          <a:p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dirty="0">
                <a:solidFill>
                  <a:srgbClr val="0000FF"/>
                </a:solidFill>
                <a:latin typeface="+mn-ea"/>
              </a:rPr>
              <a:t>EAF = 1.15×1.30×1.24×1.10=2.04</a:t>
            </a:r>
          </a:p>
          <a:p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8126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2-4 </a:t>
            </a:r>
            <a:r>
              <a:rPr lang="ko-KR" altLang="en-US" dirty="0"/>
              <a:t>보정 계수 반영하기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4" y="577344"/>
            <a:ext cx="7684713" cy="628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61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2-4 </a:t>
            </a:r>
            <a:r>
              <a:rPr lang="ko-KR" altLang="en-US" dirty="0"/>
              <a:t>보정 계수 반영하기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노력 조정 수치가 반영된 노력</a:t>
            </a:r>
            <a:r>
              <a:rPr lang="en-US" altLang="ko-KR" dirty="0">
                <a:solidFill>
                  <a:srgbClr val="004A82"/>
                </a:solidFill>
              </a:rPr>
              <a:t>(P/M)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71600" y="4464115"/>
            <a:ext cx="7155795" cy="17551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만일 개발하려는 소프트웨어의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KDSI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60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이고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소프트웨어는 중간형이며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노력 조정 수치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(EAF)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2.04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라면 노력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(E)?</a:t>
            </a:r>
          </a:p>
          <a:p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dirty="0">
                <a:solidFill>
                  <a:srgbClr val="0000FF"/>
                </a:solidFill>
                <a:ea typeface="HY강B" panose="02030600000101010101" pitchFamily="18" charset="-127"/>
              </a:rPr>
              <a:t>PM=3.0</a:t>
            </a:r>
            <a:r>
              <a:rPr lang="en-US" altLang="ko-KR" dirty="0">
                <a:solidFill>
                  <a:srgbClr val="0000FF"/>
                </a:solidFill>
              </a:rPr>
              <a:t>× </a:t>
            </a:r>
            <a:r>
              <a:rPr lang="en-US" altLang="ko-KR" dirty="0">
                <a:solidFill>
                  <a:srgbClr val="0000FF"/>
                </a:solidFill>
                <a:ea typeface="HY강B" panose="02030600000101010101" pitchFamily="18" charset="-127"/>
              </a:rPr>
              <a:t>(KDSI)</a:t>
            </a:r>
            <a:r>
              <a:rPr lang="en-US" altLang="ko-KR" baseline="30000" dirty="0">
                <a:solidFill>
                  <a:srgbClr val="0000FF"/>
                </a:solidFill>
                <a:ea typeface="HY강B" panose="02030600000101010101" pitchFamily="18" charset="-127"/>
              </a:rPr>
              <a:t>1.12</a:t>
            </a:r>
            <a:r>
              <a:rPr lang="en-US" altLang="ko-KR" dirty="0">
                <a:solidFill>
                  <a:srgbClr val="0000FF"/>
                </a:solidFill>
              </a:rPr>
              <a:t>×</a:t>
            </a:r>
            <a:r>
              <a:rPr lang="en-US" altLang="ko-KR" dirty="0">
                <a:solidFill>
                  <a:srgbClr val="0000FF"/>
                </a:solidFill>
                <a:ea typeface="HY강B" panose="02030600000101010101" pitchFamily="18" charset="-127"/>
              </a:rPr>
              <a:t>EAF = 3.0</a:t>
            </a:r>
            <a:r>
              <a:rPr lang="en-US" altLang="ko-KR" dirty="0">
                <a:solidFill>
                  <a:srgbClr val="0000FF"/>
                </a:solidFill>
              </a:rPr>
              <a:t>× </a:t>
            </a:r>
            <a:r>
              <a:rPr lang="en-US" altLang="ko-KR" dirty="0">
                <a:solidFill>
                  <a:srgbClr val="0000FF"/>
                </a:solidFill>
                <a:ea typeface="HY강B" panose="02030600000101010101" pitchFamily="18" charset="-127"/>
              </a:rPr>
              <a:t>(60)</a:t>
            </a:r>
            <a:r>
              <a:rPr lang="en-US" altLang="ko-KR" baseline="30000" dirty="0">
                <a:solidFill>
                  <a:srgbClr val="0000FF"/>
                </a:solidFill>
                <a:ea typeface="HY강B" panose="02030600000101010101" pitchFamily="18" charset="-127"/>
              </a:rPr>
              <a:t> 1.12</a:t>
            </a:r>
            <a:r>
              <a:rPr lang="en-US" altLang="ko-KR" dirty="0">
                <a:solidFill>
                  <a:srgbClr val="0000FF"/>
                </a:solidFill>
              </a:rPr>
              <a:t>×</a:t>
            </a:r>
            <a:r>
              <a:rPr lang="en-US" altLang="ko-KR" dirty="0">
                <a:solidFill>
                  <a:srgbClr val="0000FF"/>
                </a:solidFill>
                <a:ea typeface="HY강B" panose="02030600000101010101" pitchFamily="18" charset="-127"/>
              </a:rPr>
              <a:t>2.04 = 600.179</a:t>
            </a:r>
            <a:endParaRPr lang="ko-KR" altLang="en-US" dirty="0">
              <a:solidFill>
                <a:schemeClr val="tx1"/>
              </a:solidFill>
              <a:ea typeface="HY강B" panose="02030600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709" y="1645640"/>
            <a:ext cx="498157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96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2-5 </a:t>
            </a:r>
            <a:r>
              <a:rPr lang="ko-KR" altLang="en-US" dirty="0"/>
              <a:t>총 개발 기간 산정하기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총 개발 기간</a:t>
            </a:r>
            <a:r>
              <a:rPr lang="en-US" altLang="ko-KR" baseline="30000" dirty="0">
                <a:solidFill>
                  <a:srgbClr val="004A82"/>
                </a:solidFill>
              </a:rPr>
              <a:t>TDEV: </a:t>
            </a:r>
            <a:r>
              <a:rPr lang="en-US" altLang="ko-KR" baseline="30000" dirty="0">
                <a:solidFill>
                  <a:srgbClr val="FF0000"/>
                </a:solidFill>
              </a:rPr>
              <a:t>T</a:t>
            </a:r>
            <a:r>
              <a:rPr lang="en-US" altLang="ko-KR" baseline="30000" dirty="0">
                <a:solidFill>
                  <a:srgbClr val="004A82"/>
                </a:solidFill>
              </a:rPr>
              <a:t>otal</a:t>
            </a:r>
            <a:r>
              <a:rPr lang="en-US" altLang="ko-KR" baseline="30000" dirty="0">
                <a:solidFill>
                  <a:srgbClr val="0000FF"/>
                </a:solidFill>
              </a:rPr>
              <a:t> </a:t>
            </a:r>
            <a:r>
              <a:rPr lang="en-US" altLang="ko-KR" baseline="30000" dirty="0" err="1">
                <a:solidFill>
                  <a:srgbClr val="FF0000"/>
                </a:solidFill>
              </a:rPr>
              <a:t>DEV</a:t>
            </a:r>
            <a:r>
              <a:rPr lang="en-US" altLang="ko-KR" baseline="30000" dirty="0" err="1">
                <a:solidFill>
                  <a:srgbClr val="004A82"/>
                </a:solidFill>
              </a:rPr>
              <a:t>elopment</a:t>
            </a:r>
            <a:r>
              <a:rPr lang="en-US" altLang="ko-KR" baseline="30000" dirty="0">
                <a:solidFill>
                  <a:srgbClr val="004A82"/>
                </a:solidFill>
              </a:rPr>
              <a:t> time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71600" y="4464115"/>
            <a:ext cx="7155795" cy="17551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만일 개발하려는 소프트웨어의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KDSI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60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이고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소프트웨어는 중간형이며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노력 조정 수치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(EAF)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2.04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라면 노력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(E)=600.179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이다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때 총 개발 기간은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endParaRPr lang="en-US" altLang="ko-KR" dirty="0">
              <a:solidFill>
                <a:schemeClr val="tx1"/>
              </a:solidFill>
              <a:latin typeface="HY강B" panose="02030600000101010101" pitchFamily="18" charset="-127"/>
              <a:ea typeface="HY강B" panose="02030600000101010101" pitchFamily="18" charset="-127"/>
            </a:endParaRPr>
          </a:p>
          <a:p>
            <a:pPr algn="ctr"/>
            <a:r>
              <a:rPr lang="en-US" altLang="ko-KR" dirty="0">
                <a:solidFill>
                  <a:srgbClr val="004A82"/>
                </a:solidFill>
                <a:latin typeface="HY강B" panose="02030600000101010101" pitchFamily="18" charset="-127"/>
                <a:ea typeface="HY강B" panose="02030600000101010101" pitchFamily="18" charset="-127"/>
              </a:rPr>
              <a:t>TDEV=2.5</a:t>
            </a:r>
            <a:r>
              <a:rPr lang="en-US" altLang="ko-KR" dirty="0">
                <a:solidFill>
                  <a:srgbClr val="0000FF"/>
                </a:solidFill>
              </a:rPr>
              <a:t> ×</a:t>
            </a:r>
            <a:r>
              <a:rPr lang="en-US" altLang="ko-KR" dirty="0">
                <a:solidFill>
                  <a:srgbClr val="004A82"/>
                </a:solidFill>
                <a:latin typeface="HY강B" panose="02030600000101010101" pitchFamily="18" charset="-127"/>
                <a:ea typeface="HY강B" panose="02030600000101010101" pitchFamily="18" charset="-127"/>
              </a:rPr>
              <a:t>(PM)</a:t>
            </a:r>
            <a:r>
              <a:rPr lang="en-US" altLang="ko-KR" baseline="30000" dirty="0">
                <a:solidFill>
                  <a:srgbClr val="004A82"/>
                </a:solidFill>
                <a:latin typeface="HY강B" panose="02030600000101010101" pitchFamily="18" charset="-127"/>
                <a:ea typeface="HY강B" panose="02030600000101010101" pitchFamily="18" charset="-127"/>
              </a:rPr>
              <a:t>0.35</a:t>
            </a:r>
            <a:r>
              <a:rPr lang="en-US" altLang="ko-KR" dirty="0">
                <a:solidFill>
                  <a:srgbClr val="004A82"/>
                </a:solidFill>
                <a:latin typeface="HY강B" panose="02030600000101010101" pitchFamily="18" charset="-127"/>
                <a:ea typeface="HY강B" panose="02030600000101010101" pitchFamily="18" charset="-127"/>
              </a:rPr>
              <a:t> = 2.5</a:t>
            </a:r>
            <a:r>
              <a:rPr lang="en-US" altLang="ko-KR" dirty="0">
                <a:solidFill>
                  <a:srgbClr val="0000FF"/>
                </a:solidFill>
              </a:rPr>
              <a:t> ×</a:t>
            </a:r>
            <a:r>
              <a:rPr lang="en-US" altLang="ko-KR" dirty="0">
                <a:solidFill>
                  <a:srgbClr val="004A82"/>
                </a:solidFill>
                <a:latin typeface="HY강B" panose="02030600000101010101" pitchFamily="18" charset="-127"/>
                <a:ea typeface="HY강B" panose="02030600000101010101" pitchFamily="18" charset="-127"/>
              </a:rPr>
              <a:t>(600.179)</a:t>
            </a:r>
            <a:r>
              <a:rPr lang="en-US" altLang="ko-KR" baseline="30000" dirty="0">
                <a:solidFill>
                  <a:srgbClr val="004A82"/>
                </a:solidFill>
                <a:latin typeface="HY강B" panose="02030600000101010101" pitchFamily="18" charset="-127"/>
                <a:ea typeface="HY강B" panose="02030600000101010101" pitchFamily="18" charset="-127"/>
              </a:rPr>
              <a:t> 0.35</a:t>
            </a:r>
            <a:r>
              <a:rPr lang="en-US" altLang="ko-KR" dirty="0">
                <a:solidFill>
                  <a:srgbClr val="004A82"/>
                </a:solidFill>
                <a:latin typeface="HY강B" panose="02030600000101010101" pitchFamily="18" charset="-127"/>
                <a:ea typeface="HY강B" panose="02030600000101010101" pitchFamily="18" charset="-127"/>
              </a:rPr>
              <a:t> = 23.461</a:t>
            </a:r>
            <a:endParaRPr lang="ko-KR" altLang="en-US" dirty="0">
              <a:solidFill>
                <a:srgbClr val="004A82"/>
              </a:solidFill>
              <a:latin typeface="HY강B" panose="02030600000101010101" pitchFamily="18" charset="-127"/>
              <a:ea typeface="HY강B" panose="02030600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834" y="1583795"/>
            <a:ext cx="45053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39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COCOMO II </a:t>
            </a:r>
            <a:r>
              <a:rPr lang="ko-KR" altLang="en-US" dirty="0"/>
              <a:t>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60901" y="1020670"/>
            <a:ext cx="7155795" cy="5400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COCOMO</a:t>
            </a:r>
            <a:r>
              <a:rPr lang="ko-KR" altLang="en-US" dirty="0">
                <a:solidFill>
                  <a:schemeClr val="tx1"/>
                </a:solidFill>
              </a:rPr>
              <a:t>의 문제점</a:t>
            </a:r>
            <a:r>
              <a:rPr lang="en-US" altLang="ko-KR" dirty="0">
                <a:solidFill>
                  <a:schemeClr val="tx1"/>
                </a:solidFill>
              </a:rPr>
              <a:t>: (</a:t>
            </a:r>
            <a:r>
              <a:rPr lang="ko-KR" altLang="en-US" dirty="0">
                <a:solidFill>
                  <a:schemeClr val="tx1"/>
                </a:solidFill>
              </a:rPr>
              <a:t>계획 단계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원시코드 </a:t>
            </a:r>
            <a:r>
              <a:rPr lang="ko-KR" altLang="en-US" dirty="0" err="1">
                <a:solidFill>
                  <a:schemeClr val="tx1"/>
                </a:solidFill>
              </a:rPr>
              <a:t>라인수</a:t>
            </a:r>
            <a:r>
              <a:rPr lang="ko-KR" altLang="en-US" dirty="0">
                <a:solidFill>
                  <a:schemeClr val="tx1"/>
                </a:solidFill>
              </a:rPr>
              <a:t> 예측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52299" y="2798930"/>
            <a:ext cx="7155795" cy="5400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COCOMOII:  </a:t>
            </a:r>
            <a:r>
              <a:rPr lang="ko-KR" altLang="en-US" dirty="0">
                <a:solidFill>
                  <a:schemeClr val="tx1"/>
                </a:solidFill>
              </a:rPr>
              <a:t>단계별로 값을 예측한 후 인건비 예측</a:t>
            </a:r>
          </a:p>
        </p:txBody>
      </p:sp>
      <p:sp>
        <p:nvSpPr>
          <p:cNvPr id="6" name="아래쪽 화살표 5"/>
          <p:cNvSpPr/>
          <p:nvPr/>
        </p:nvSpPr>
        <p:spPr>
          <a:xfrm>
            <a:off x="4296846" y="1673805"/>
            <a:ext cx="484632" cy="978408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4630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3-1 </a:t>
            </a:r>
            <a:r>
              <a:rPr lang="ko-KR" altLang="en-US" dirty="0"/>
              <a:t>프로젝트 진행 정도에 따른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pPr marL="93662" indent="0">
              <a:buNone/>
            </a:pPr>
            <a:r>
              <a:rPr lang="en-US" altLang="ko-KR" dirty="0">
                <a:solidFill>
                  <a:srgbClr val="004A82"/>
                </a:solidFill>
              </a:rPr>
              <a:t>[1</a:t>
            </a:r>
            <a:r>
              <a:rPr lang="ko-KR" altLang="en-US" dirty="0">
                <a:solidFill>
                  <a:srgbClr val="004A82"/>
                </a:solidFill>
              </a:rPr>
              <a:t>단계</a:t>
            </a:r>
            <a:r>
              <a:rPr lang="en-US" altLang="ko-KR" dirty="0">
                <a:solidFill>
                  <a:srgbClr val="004A82"/>
                </a:solidFill>
              </a:rPr>
              <a:t>] </a:t>
            </a:r>
            <a:r>
              <a:rPr lang="ko-KR" altLang="en-US" dirty="0">
                <a:solidFill>
                  <a:srgbClr val="004A82"/>
                </a:solidFill>
              </a:rPr>
              <a:t>애플리케이션 합성 모델</a:t>
            </a:r>
            <a:r>
              <a:rPr lang="en-US" altLang="ko-KR" baseline="30000" dirty="0">
                <a:solidFill>
                  <a:srgbClr val="004A82"/>
                </a:solidFill>
              </a:rPr>
              <a:t>application composition model</a:t>
            </a:r>
            <a:endParaRPr lang="en-US" altLang="ko-KR" dirty="0">
              <a:solidFill>
                <a:srgbClr val="004A82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pPr marL="93662" indent="0">
              <a:buNone/>
            </a:pPr>
            <a:r>
              <a:rPr lang="en-US" altLang="ko-KR" dirty="0">
                <a:solidFill>
                  <a:srgbClr val="004A82"/>
                </a:solidFill>
              </a:rPr>
              <a:t>[2</a:t>
            </a:r>
            <a:r>
              <a:rPr lang="ko-KR" altLang="en-US" dirty="0">
                <a:solidFill>
                  <a:srgbClr val="004A82"/>
                </a:solidFill>
              </a:rPr>
              <a:t>단계</a:t>
            </a:r>
            <a:r>
              <a:rPr lang="en-US" altLang="ko-KR" dirty="0">
                <a:solidFill>
                  <a:srgbClr val="004A82"/>
                </a:solidFill>
              </a:rPr>
              <a:t>] </a:t>
            </a:r>
            <a:r>
              <a:rPr lang="ko-KR" altLang="en-US" dirty="0">
                <a:solidFill>
                  <a:srgbClr val="004A82"/>
                </a:solidFill>
              </a:rPr>
              <a:t>초기 설계 모델</a:t>
            </a:r>
            <a:r>
              <a:rPr lang="en-US" altLang="ko-KR" baseline="30000" dirty="0">
                <a:solidFill>
                  <a:srgbClr val="004A82"/>
                </a:solidFill>
              </a:rPr>
              <a:t>early design model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초기 설계 단계에서 예측 값을 구한다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단계보다 더욱 정확한 예측이 가능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pPr marL="93662" indent="0">
              <a:buNone/>
            </a:pPr>
            <a:r>
              <a:rPr lang="en-US" altLang="ko-KR" dirty="0">
                <a:solidFill>
                  <a:srgbClr val="004A82"/>
                </a:solidFill>
              </a:rPr>
              <a:t>[3</a:t>
            </a:r>
            <a:r>
              <a:rPr lang="ko-KR" altLang="en-US" dirty="0">
                <a:solidFill>
                  <a:srgbClr val="004A82"/>
                </a:solidFill>
              </a:rPr>
              <a:t>단계</a:t>
            </a:r>
            <a:r>
              <a:rPr lang="en-US" altLang="ko-KR" dirty="0">
                <a:solidFill>
                  <a:srgbClr val="004A82"/>
                </a:solidFill>
              </a:rPr>
              <a:t>] </a:t>
            </a:r>
            <a:r>
              <a:rPr lang="ko-KR" altLang="en-US" dirty="0">
                <a:solidFill>
                  <a:srgbClr val="004A82"/>
                </a:solidFill>
              </a:rPr>
              <a:t>구조 설계 이후 모델</a:t>
            </a:r>
            <a:r>
              <a:rPr lang="en-US" altLang="ko-KR" baseline="30000" dirty="0">
                <a:solidFill>
                  <a:srgbClr val="004A82"/>
                </a:solidFill>
              </a:rPr>
              <a:t>post-architecture model</a:t>
            </a:r>
          </a:p>
          <a:p>
            <a:pPr lvl="1"/>
            <a:r>
              <a:rPr lang="ko-KR" altLang="en-US" dirty="0"/>
              <a:t>기능 점수를 바탕으로 한 </a:t>
            </a:r>
            <a:r>
              <a:rPr lang="en-US" altLang="ko-KR" dirty="0"/>
              <a:t>LOC</a:t>
            </a:r>
            <a:r>
              <a:rPr lang="ko-KR" altLang="en-US" dirty="0"/>
              <a:t>를 추정하여 소프트웨어 규모를 산정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 E = b x S</a:t>
            </a:r>
            <a:r>
              <a:rPr lang="en-US" altLang="ko-KR" baseline="30000" dirty="0">
                <a:solidFill>
                  <a:srgbClr val="0000FF"/>
                </a:solidFill>
              </a:rPr>
              <a:t>C</a:t>
            </a:r>
            <a:r>
              <a:rPr lang="en-US" altLang="ko-KR" dirty="0">
                <a:solidFill>
                  <a:srgbClr val="0000FF"/>
                </a:solidFill>
              </a:rPr>
              <a:t> x m(X)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00FF"/>
                </a:solidFill>
              </a:rPr>
              <a:t>   b x S</a:t>
            </a:r>
            <a:r>
              <a:rPr lang="en-US" altLang="ko-KR" baseline="30000" dirty="0">
                <a:solidFill>
                  <a:srgbClr val="0000FF"/>
                </a:solidFill>
              </a:rPr>
              <a:t>C : </a:t>
            </a:r>
            <a:r>
              <a:rPr lang="ko-KR" altLang="en-US" dirty="0">
                <a:solidFill>
                  <a:srgbClr val="0000FF"/>
                </a:solidFill>
              </a:rPr>
              <a:t>기초 소요 노력 예측 값     </a:t>
            </a:r>
            <a:r>
              <a:rPr lang="en-US" altLang="ko-KR" dirty="0">
                <a:solidFill>
                  <a:srgbClr val="0000FF"/>
                </a:solidFill>
              </a:rPr>
              <a:t>m(X):</a:t>
            </a:r>
            <a:r>
              <a:rPr lang="ko-KR" altLang="en-US" dirty="0">
                <a:solidFill>
                  <a:srgbClr val="0000FF"/>
                </a:solidFill>
              </a:rPr>
              <a:t> 비용 승수의 벡터</a:t>
            </a:r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556665" y="1757694"/>
            <a:ext cx="6075676" cy="391549"/>
            <a:chOff x="897801" y="1507281"/>
            <a:chExt cx="5888734" cy="391549"/>
          </a:xfrm>
        </p:grpSpPr>
        <p:sp>
          <p:nvSpPr>
            <p:cNvPr id="7" name="직사각형 6"/>
            <p:cNvSpPr/>
            <p:nvPr/>
          </p:nvSpPr>
          <p:spPr>
            <a:xfrm>
              <a:off x="2947954" y="1538790"/>
              <a:ext cx="1701190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객체 점수 산출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897801" y="1538790"/>
              <a:ext cx="1558962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UI </a:t>
              </a:r>
              <a:r>
                <a:rPr lang="ko-KR" altLang="en-US" dirty="0">
                  <a:solidFill>
                    <a:schemeClr val="tx1"/>
                  </a:solidFill>
                </a:rPr>
                <a:t>개수 계산</a:t>
              </a:r>
            </a:p>
          </p:txBody>
        </p:sp>
        <p:cxnSp>
          <p:nvCxnSpPr>
            <p:cNvPr id="9" name="직선 화살표 연결선 8"/>
            <p:cNvCxnSpPr>
              <a:stCxn id="8" idx="3"/>
              <a:endCxn id="7" idx="1"/>
            </p:cNvCxnSpPr>
            <p:nvPr/>
          </p:nvCxnSpPr>
          <p:spPr>
            <a:xfrm>
              <a:off x="2456763" y="1718810"/>
              <a:ext cx="49119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5128966" y="1507281"/>
              <a:ext cx="1657569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SW </a:t>
              </a:r>
              <a:r>
                <a:rPr lang="ko-KR" altLang="en-US" dirty="0">
                  <a:solidFill>
                    <a:schemeClr val="tx1"/>
                  </a:solidFill>
                </a:rPr>
                <a:t>규모 산정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V="1">
              <a:off x="4649143" y="1703055"/>
              <a:ext cx="479823" cy="157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4173758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 </a:t>
            </a:r>
            <a:r>
              <a:rPr lang="ko-KR" altLang="en-US" dirty="0"/>
              <a:t>기능 점수 산정 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산정 근거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기능</a:t>
            </a:r>
            <a:r>
              <a:rPr lang="en-US" altLang="ko-KR" dirty="0"/>
              <a:t>(</a:t>
            </a:r>
            <a:r>
              <a:rPr lang="ko-KR" altLang="en-US" dirty="0"/>
              <a:t>입</a:t>
            </a:r>
            <a:r>
              <a:rPr lang="en-US" altLang="ko-KR" dirty="0"/>
              <a:t>·</a:t>
            </a:r>
            <a:r>
              <a:rPr lang="ko-KR" altLang="en-US" dirty="0"/>
              <a:t>출력</a:t>
            </a:r>
            <a:r>
              <a:rPr lang="en-US" altLang="ko-KR" dirty="0"/>
              <a:t>, </a:t>
            </a:r>
            <a:r>
              <a:rPr lang="ko-KR" altLang="en-US" dirty="0"/>
              <a:t>데이터베이스 테이블</a:t>
            </a:r>
            <a:r>
              <a:rPr lang="en-US" altLang="ko-KR" dirty="0"/>
              <a:t>, </a:t>
            </a:r>
            <a:r>
              <a:rPr lang="ko-KR" altLang="en-US" dirty="0"/>
              <a:t>인터페이스</a:t>
            </a:r>
            <a:r>
              <a:rPr lang="en-US" altLang="ko-KR" dirty="0"/>
              <a:t>, </a:t>
            </a:r>
            <a:r>
              <a:rPr lang="ko-KR" altLang="en-US" dirty="0"/>
              <a:t>조회 등</a:t>
            </a:r>
            <a:r>
              <a:rPr lang="en-US" altLang="ko-KR" dirty="0"/>
              <a:t>)</a:t>
            </a:r>
            <a:r>
              <a:rPr lang="ko-KR" altLang="en-US" dirty="0"/>
              <a:t>의 수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 →</a:t>
            </a:r>
            <a:r>
              <a:rPr lang="en-US" altLang="ko-KR" dirty="0"/>
              <a:t> </a:t>
            </a:r>
            <a:r>
              <a:rPr lang="ko-KR" altLang="en-US" dirty="0"/>
              <a:t>라인 수와 무관하게 기능이 많으면 규모도 크고 복잡도도 높다고 판단</a:t>
            </a:r>
            <a:endParaRPr lang="en-US" altLang="ko-KR" dirty="0"/>
          </a:p>
          <a:p>
            <a:pPr lvl="1">
              <a:buClr>
                <a:srgbClr val="4BACC6">
                  <a:lumMod val="50000"/>
                </a:srgbClr>
              </a:buClr>
            </a:pPr>
            <a:r>
              <a:rPr lang="ko-KR" altLang="en-US" dirty="0">
                <a:solidFill>
                  <a:prstClr val="black"/>
                </a:solidFill>
              </a:rPr>
              <a:t>사용자관점에서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소프트웨어의 기능 정량화 </a:t>
            </a:r>
            <a:r>
              <a:rPr lang="en-US" altLang="ko-KR" dirty="0">
                <a:solidFill>
                  <a:prstClr val="black"/>
                </a:solidFill>
              </a:rPr>
              <a:t>=&gt; </a:t>
            </a:r>
            <a:r>
              <a:rPr lang="ko-KR" altLang="en-US" dirty="0">
                <a:solidFill>
                  <a:prstClr val="black"/>
                </a:solidFill>
              </a:rPr>
              <a:t>개발 비용 산정</a:t>
            </a:r>
            <a:endParaRPr lang="en-US" altLang="ko-KR" dirty="0">
              <a:solidFill>
                <a:prstClr val="black"/>
              </a:solidFill>
            </a:endParaRPr>
          </a:p>
          <a:p>
            <a:pPr lvl="1">
              <a:buClr>
                <a:srgbClr val="4BACC6">
                  <a:lumMod val="50000"/>
                </a:srgbClr>
              </a:buClr>
            </a:pPr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기능 점수</a:t>
            </a:r>
            <a:r>
              <a:rPr lang="en-US" altLang="ko-KR" baseline="30000" dirty="0">
                <a:solidFill>
                  <a:srgbClr val="004A82"/>
                </a:solidFill>
              </a:rPr>
              <a:t>function point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소프트웨어 기능의 크기를 측정하는 단위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) </a:t>
            </a:r>
            <a:r>
              <a:rPr lang="ko-KR" altLang="en-US" dirty="0"/>
              <a:t>소프트웨어의 기능이 얼마나 복잡한가를 상대적인 점수로 표현하는 것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 </a:t>
            </a:r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9219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 </a:t>
            </a:r>
            <a:r>
              <a:rPr lang="ko-KR" altLang="en-US" dirty="0"/>
              <a:t>기능 점수 산정 방법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용도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개발 시 비용 산정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유지보수 비용 산정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개발 시 필요한 자원 산정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특징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소프트웨어 규모를 측정하는 방법</a:t>
            </a:r>
            <a:endParaRPr lang="en-US" altLang="ko-KR" dirty="0"/>
          </a:p>
          <a:p>
            <a:pPr lvl="1"/>
            <a:r>
              <a:rPr lang="ko-KR" altLang="en-US" dirty="0"/>
              <a:t>기능적 요구 사항이 중심이 되는 측정 방법</a:t>
            </a:r>
            <a:endParaRPr lang="en-US" altLang="ko-KR" dirty="0"/>
          </a:p>
          <a:p>
            <a:pPr lvl="1"/>
            <a:r>
              <a:rPr lang="ko-KR" altLang="en-US" dirty="0"/>
              <a:t>소프트웨어의 요구 사항 복잡도를 측정</a:t>
            </a:r>
            <a:endParaRPr lang="en-US" altLang="ko-KR" dirty="0"/>
          </a:p>
          <a:p>
            <a:pPr lvl="1"/>
            <a:r>
              <a:rPr lang="ko-KR" altLang="en-US" dirty="0"/>
              <a:t>구현 관점 아닌 사용자 관점의 요구 기능을 정량적으로 산정 </a:t>
            </a:r>
            <a:endParaRPr lang="en-US" altLang="ko-KR" dirty="0"/>
          </a:p>
          <a:p>
            <a:pPr lvl="1"/>
            <a:r>
              <a:rPr lang="ko-KR" altLang="en-US" dirty="0"/>
              <a:t>측정의 일관성 유지를 위해 개발 기술</a:t>
            </a:r>
            <a:r>
              <a:rPr lang="en-US" altLang="ko-KR" dirty="0"/>
              <a:t>, </a:t>
            </a:r>
            <a:r>
              <a:rPr lang="ko-KR" altLang="en-US" dirty="0"/>
              <a:t>개발 방법</a:t>
            </a:r>
            <a:r>
              <a:rPr lang="en-US" altLang="ko-KR" dirty="0"/>
              <a:t>, </a:t>
            </a:r>
            <a:r>
              <a:rPr lang="ko-KR" altLang="en-US" dirty="0"/>
              <a:t>품질 수준 등은 고려하지 않음</a:t>
            </a:r>
            <a:endParaRPr lang="en-US" altLang="ko-KR" dirty="0"/>
          </a:p>
          <a:p>
            <a:pPr lvl="1"/>
            <a:r>
              <a:rPr lang="ko-KR" altLang="en-US" dirty="0"/>
              <a:t>소프트웨어 개발에 사용되는 언어와 무관</a:t>
            </a:r>
            <a:endParaRPr lang="en-US" altLang="ko-KR" dirty="0"/>
          </a:p>
          <a:p>
            <a:pPr lvl="1"/>
            <a:r>
              <a:rPr lang="ko-KR" altLang="en-US" dirty="0"/>
              <a:t>소프트웨어 개발 생명주기의 전체 단계에서 사용 가능  </a:t>
            </a:r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25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소프트웨어 기능 분류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7" y="1866900"/>
            <a:ext cx="705802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65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 </a:t>
            </a:r>
            <a:r>
              <a:rPr lang="ko-KR" altLang="en-US" dirty="0"/>
              <a:t>기능 점수 산정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정규 기능 </a:t>
            </a:r>
            <a:r>
              <a:rPr lang="ko-KR" altLang="en-US" dirty="0" err="1">
                <a:solidFill>
                  <a:srgbClr val="004A82"/>
                </a:solidFill>
              </a:rPr>
              <a:t>점수법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설계 단계 이후에 사용하면 유용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간이 기능 </a:t>
            </a:r>
            <a:r>
              <a:rPr lang="ko-KR" altLang="en-US" dirty="0" err="1">
                <a:solidFill>
                  <a:srgbClr val="004A82"/>
                </a:solidFill>
              </a:rPr>
              <a:t>점수법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기획 및 발주 단계에서 사용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466655" y="2324924"/>
            <a:ext cx="6295910" cy="363067"/>
            <a:chOff x="1687397" y="1538790"/>
            <a:chExt cx="6102191" cy="363067"/>
          </a:xfrm>
        </p:grpSpPr>
        <p:sp>
          <p:nvSpPr>
            <p:cNvPr id="5" name="직사각형 4"/>
            <p:cNvSpPr/>
            <p:nvPr/>
          </p:nvSpPr>
          <p:spPr>
            <a:xfrm>
              <a:off x="3638665" y="1538790"/>
              <a:ext cx="2231632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유형별 복잡도 계산</a:t>
              </a: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687397" y="1541817"/>
              <a:ext cx="1348072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</a:rPr>
                <a:t>기능 도출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직선 화살표 연결선 6"/>
            <p:cNvCxnSpPr>
              <a:endCxn id="5" idx="1"/>
            </p:cNvCxnSpPr>
            <p:nvPr/>
          </p:nvCxnSpPr>
          <p:spPr>
            <a:xfrm>
              <a:off x="3047715" y="1718810"/>
              <a:ext cx="59095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6275343" y="1541817"/>
              <a:ext cx="1514245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기능 점수 산정</a:t>
              </a: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>
              <a:off x="5870298" y="1718810"/>
              <a:ext cx="4050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21" name="그룹 20"/>
          <p:cNvGrpSpPr/>
          <p:nvPr/>
        </p:nvGrpSpPr>
        <p:grpSpPr>
          <a:xfrm>
            <a:off x="1436114" y="4956143"/>
            <a:ext cx="6295910" cy="363067"/>
            <a:chOff x="1687397" y="1538790"/>
            <a:chExt cx="6102191" cy="363067"/>
          </a:xfrm>
        </p:grpSpPr>
        <p:sp>
          <p:nvSpPr>
            <p:cNvPr id="22" name="직사각형 21"/>
            <p:cNvSpPr/>
            <p:nvPr/>
          </p:nvSpPr>
          <p:spPr>
            <a:xfrm>
              <a:off x="3638665" y="1538790"/>
              <a:ext cx="2231632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평균 복잡도 적용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687397" y="1541817"/>
              <a:ext cx="1348072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</a:rPr>
                <a:t>기능 도출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직선 화살표 연결선 23"/>
            <p:cNvCxnSpPr>
              <a:endCxn id="22" idx="1"/>
            </p:cNvCxnSpPr>
            <p:nvPr/>
          </p:nvCxnSpPr>
          <p:spPr>
            <a:xfrm>
              <a:off x="3047715" y="1718810"/>
              <a:ext cx="59095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5" name="직사각형 24"/>
            <p:cNvSpPr/>
            <p:nvPr/>
          </p:nvSpPr>
          <p:spPr>
            <a:xfrm>
              <a:off x="6275343" y="1541817"/>
              <a:ext cx="1514245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기능 점수 산정</a:t>
              </a:r>
            </a:p>
          </p:txBody>
        </p:sp>
        <p:cxnSp>
          <p:nvCxnSpPr>
            <p:cNvPr id="26" name="직선 화살표 연결선 25"/>
            <p:cNvCxnSpPr/>
            <p:nvPr/>
          </p:nvCxnSpPr>
          <p:spPr>
            <a:xfrm>
              <a:off x="5870298" y="1718810"/>
              <a:ext cx="4050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6567005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 </a:t>
            </a:r>
            <a:r>
              <a:rPr lang="ko-KR" altLang="en-US" dirty="0"/>
              <a:t>기능 점수 산정 방법의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사용자의 요구 사항만으로 기능을 추출하여 측정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실제 구현 방법과 무관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객관적인 요구 사항만으로 측정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개발 방법이나 개발 팀과 무관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모든 개발 단계에서 사용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계획 단계뿐 아니라</a:t>
            </a:r>
            <a:r>
              <a:rPr lang="en-US" altLang="ko-KR" dirty="0"/>
              <a:t>, </a:t>
            </a:r>
            <a:r>
              <a:rPr lang="ko-KR" altLang="en-US" dirty="0"/>
              <a:t>분석</a:t>
            </a:r>
            <a:r>
              <a:rPr lang="en-US" altLang="ko-KR" dirty="0"/>
              <a:t>, 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구현 단계에서도 사용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631641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 </a:t>
            </a:r>
            <a:r>
              <a:rPr lang="ko-KR" altLang="en-US" dirty="0"/>
              <a:t>기능 점수 산정 방법의 단점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높은 분석 능력 필요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요구 사항으로부터 기능을 도출하려면 상당한 분석 능력이 필요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기능 점수 전문가 필요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이 방법을 잘 사용할 수 있는 기능 점수 전문가가 필요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내부 </a:t>
            </a:r>
            <a:r>
              <a:rPr lang="ko-KR" altLang="en-US" dirty="0" err="1">
                <a:solidFill>
                  <a:srgbClr val="004A82"/>
                </a:solidFill>
              </a:rPr>
              <a:t>로직</a:t>
            </a:r>
            <a:r>
              <a:rPr lang="ko-KR" altLang="en-US" dirty="0">
                <a:solidFill>
                  <a:srgbClr val="004A82"/>
                </a:solidFill>
              </a:rPr>
              <a:t> 위주의 소프트웨어에는 다소 부적합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사용자가 알 수 있는 기능으로 측정하기 때문에 내부 </a:t>
            </a:r>
            <a:r>
              <a:rPr lang="ko-KR" altLang="en-US" dirty="0" err="1"/>
              <a:t>로직</a:t>
            </a:r>
            <a:r>
              <a:rPr lang="ko-KR" altLang="en-US" dirty="0"/>
              <a:t> 위주의 </a:t>
            </a:r>
            <a:r>
              <a:rPr lang="en-US" altLang="ko-KR" dirty="0"/>
              <a:t>SW</a:t>
            </a:r>
            <a:r>
              <a:rPr lang="ko-KR" altLang="en-US" dirty="0"/>
              <a:t> 측정에는 부적합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개발 규모 측정에 적합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개발 규모를 예측하는 데 적합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79361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 </a:t>
            </a:r>
            <a:r>
              <a:rPr lang="ko-KR" altLang="en-US" dirty="0"/>
              <a:t>간이 기능 </a:t>
            </a:r>
            <a:r>
              <a:rPr lang="ko-KR" altLang="en-US" dirty="0" err="1"/>
              <a:t>점수법</a:t>
            </a:r>
            <a:r>
              <a:rPr lang="ko-KR" altLang="en-US" dirty="0"/>
              <a:t> 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평균 복잡도 가중치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가지 유형에 적용된 복잡도에 대해 계산한 가중치의 평균값</a:t>
            </a:r>
            <a:endParaRPr lang="en-US" altLang="ko-KR" dirty="0"/>
          </a:p>
          <a:p>
            <a:pPr lvl="2"/>
            <a:r>
              <a:rPr lang="en-US" altLang="ko-KR" sz="1600" dirty="0"/>
              <a:t>5</a:t>
            </a:r>
            <a:r>
              <a:rPr lang="ko-KR" altLang="en-US" sz="1600" dirty="0"/>
              <a:t>가지 유형</a:t>
            </a:r>
            <a:r>
              <a:rPr lang="en-US" altLang="ko-KR" sz="1600" dirty="0"/>
              <a:t>: </a:t>
            </a:r>
            <a:r>
              <a:rPr lang="ko-KR" altLang="en-US" sz="1600" dirty="0"/>
              <a:t>내부 논리 파일</a:t>
            </a:r>
            <a:r>
              <a:rPr lang="en-US" altLang="ko-KR" sz="1600" dirty="0"/>
              <a:t>, </a:t>
            </a:r>
            <a:r>
              <a:rPr lang="ko-KR" altLang="en-US" sz="1600" dirty="0"/>
              <a:t>외부 연계 파일</a:t>
            </a:r>
            <a:r>
              <a:rPr lang="en-US" altLang="ko-KR" sz="1600" dirty="0"/>
              <a:t>, </a:t>
            </a:r>
            <a:r>
              <a:rPr lang="ko-KR" altLang="en-US" sz="1600" dirty="0"/>
              <a:t>외부 입력</a:t>
            </a:r>
            <a:r>
              <a:rPr lang="en-US" altLang="ko-KR" sz="1600" dirty="0"/>
              <a:t>, </a:t>
            </a:r>
            <a:r>
              <a:rPr lang="ko-KR" altLang="en-US" sz="1600" dirty="0"/>
              <a:t>외부 출력</a:t>
            </a:r>
            <a:r>
              <a:rPr lang="en-US" altLang="ko-KR" sz="1600" dirty="0"/>
              <a:t>, </a:t>
            </a:r>
            <a:r>
              <a:rPr lang="ko-KR" altLang="en-US" sz="1600" dirty="0"/>
              <a:t>외부 조회</a:t>
            </a:r>
            <a:endParaRPr lang="en-US" altLang="ko-KR" sz="1600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간이 기능 </a:t>
            </a:r>
            <a:r>
              <a:rPr lang="ko-KR" altLang="en-US" dirty="0" err="1">
                <a:solidFill>
                  <a:srgbClr val="004A82"/>
                </a:solidFill>
              </a:rPr>
              <a:t>점수법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프로젝트 초기 단계에서 평균 복잡도 가중치를 사용하여 소프트웨어 기능의 크기를 측정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709862"/>
            <a:ext cx="80772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145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 </a:t>
            </a:r>
            <a:r>
              <a:rPr lang="ko-KR" altLang="en-US" dirty="0"/>
              <a:t>간이 기능 점수 산정 절차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708193"/>
            <a:ext cx="8127816" cy="594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535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10-1 </a:t>
            </a:r>
            <a:r>
              <a:rPr lang="ko-KR" altLang="en-US" dirty="0"/>
              <a:t>측정 유형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개발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  <a:r>
              <a:rPr lang="ko-KR" altLang="en-US" dirty="0">
                <a:solidFill>
                  <a:srgbClr val="004A82"/>
                </a:solidFill>
              </a:rPr>
              <a:t>프로젝트 기능 점수</a:t>
            </a:r>
            <a:r>
              <a:rPr lang="en-US" altLang="ko-KR" dirty="0">
                <a:solidFill>
                  <a:srgbClr val="004A82"/>
                </a:solidFill>
              </a:rPr>
              <a:t>(</a:t>
            </a:r>
            <a:r>
              <a:rPr lang="ko-KR" altLang="en-US" dirty="0">
                <a:solidFill>
                  <a:srgbClr val="004A82"/>
                </a:solidFill>
              </a:rPr>
              <a:t>개발 규모 측정</a:t>
            </a:r>
            <a:r>
              <a:rPr lang="en-US" altLang="ko-KR" dirty="0">
                <a:solidFill>
                  <a:srgbClr val="004A82"/>
                </a:solidFill>
              </a:rPr>
              <a:t>)</a:t>
            </a:r>
          </a:p>
          <a:p>
            <a:pPr lvl="1"/>
            <a:r>
              <a:rPr lang="ko-KR" altLang="en-US" dirty="0"/>
              <a:t>프로젝트가 완료되어 최초 설치했을 때의 기능 크기를 산정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 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) </a:t>
            </a:r>
            <a:r>
              <a:rPr lang="ko-KR" altLang="en-US" dirty="0"/>
              <a:t>프로젝트에서 사용자를 위해 제공된 모든 기능을 측정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개선</a:t>
            </a:r>
            <a:r>
              <a:rPr lang="en-US" altLang="ko-KR" dirty="0">
                <a:solidFill>
                  <a:srgbClr val="004A82"/>
                </a:solidFill>
              </a:rPr>
              <a:t>(enhancement) </a:t>
            </a:r>
            <a:r>
              <a:rPr lang="ko-KR" altLang="en-US" dirty="0">
                <a:solidFill>
                  <a:srgbClr val="004A82"/>
                </a:solidFill>
              </a:rPr>
              <a:t>프로젝트 기능 점수</a:t>
            </a:r>
            <a:r>
              <a:rPr lang="en-US" altLang="ko-KR" dirty="0">
                <a:solidFill>
                  <a:srgbClr val="004A82"/>
                </a:solidFill>
              </a:rPr>
              <a:t>(</a:t>
            </a:r>
            <a:r>
              <a:rPr lang="ko-KR" altLang="en-US" dirty="0">
                <a:solidFill>
                  <a:srgbClr val="004A82"/>
                </a:solidFill>
              </a:rPr>
              <a:t>변경 규모 측정</a:t>
            </a:r>
            <a:r>
              <a:rPr lang="en-US" altLang="ko-KR" dirty="0">
                <a:solidFill>
                  <a:srgbClr val="004A82"/>
                </a:solidFill>
              </a:rPr>
              <a:t>)</a:t>
            </a:r>
          </a:p>
          <a:p>
            <a:pPr lvl="1"/>
            <a:r>
              <a:rPr lang="ko-KR" altLang="en-US" dirty="0"/>
              <a:t>사용 중인 소프트웨어에 변경이 발생했을 때 변경된 부분의 기능을 측정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 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) </a:t>
            </a:r>
            <a:r>
              <a:rPr lang="ko-KR" altLang="en-US" dirty="0"/>
              <a:t>완료된 프로젝트에서 추가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삭제된 부분만 그 크기를 측정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애플리케이션 기능 점수</a:t>
            </a:r>
            <a:r>
              <a:rPr lang="en-US" altLang="ko-KR" dirty="0">
                <a:solidFill>
                  <a:srgbClr val="004A82"/>
                </a:solidFill>
              </a:rPr>
              <a:t>(</a:t>
            </a:r>
            <a:r>
              <a:rPr lang="ko-KR" altLang="en-US" dirty="0">
                <a:solidFill>
                  <a:srgbClr val="004A82"/>
                </a:solidFill>
              </a:rPr>
              <a:t>응용 규모 측정</a:t>
            </a:r>
            <a:r>
              <a:rPr lang="en-US" altLang="ko-KR" dirty="0">
                <a:solidFill>
                  <a:srgbClr val="004A82"/>
                </a:solidFill>
              </a:rPr>
              <a:t>)</a:t>
            </a:r>
          </a:p>
          <a:p>
            <a:pPr lvl="1"/>
            <a:r>
              <a:rPr lang="ko-KR" altLang="en-US" dirty="0"/>
              <a:t>현재 운용 중인 애플리케이션의 기능을 측정</a:t>
            </a:r>
            <a:endParaRPr lang="en-US" altLang="ko-KR" dirty="0"/>
          </a:p>
          <a:p>
            <a:pPr lvl="1"/>
            <a:r>
              <a:rPr lang="ko-KR" altLang="en-US" dirty="0"/>
              <a:t>개발프로젝트 기능 점수에 개선 프로젝트 기능 점수까지 포함된 것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0589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10-2 </a:t>
            </a:r>
            <a:r>
              <a:rPr lang="ko-KR" altLang="en-US" dirty="0"/>
              <a:t>측정 범위와 애플리케이션 경계 식별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655" y="1046296"/>
            <a:ext cx="6180111" cy="55648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7352" y="593685"/>
            <a:ext cx="7168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 </a:t>
            </a:r>
            <a:r>
              <a:rPr lang="ko-KR" altLang="en-US" b="1" dirty="0" smtClean="0"/>
              <a:t>신규로 개발되는 프로젝트를 대상으로 기능 점수를 측정하는 과정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607270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10-2 </a:t>
            </a:r>
            <a:r>
              <a:rPr lang="ko-KR" altLang="en-US" dirty="0"/>
              <a:t>측정 범위와 애플리케이션 경계 식별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측정 범위에 포함될 요소</a:t>
            </a:r>
            <a:r>
              <a:rPr lang="en-US" altLang="ko-KR" dirty="0">
                <a:solidFill>
                  <a:srgbClr val="004A82"/>
                </a:solidFill>
              </a:rPr>
              <a:t>(</a:t>
            </a:r>
            <a:r>
              <a:rPr lang="ko-KR" altLang="en-US" dirty="0">
                <a:solidFill>
                  <a:srgbClr val="004A82"/>
                </a:solidFill>
              </a:rPr>
              <a:t>서브시스템</a:t>
            </a:r>
            <a:r>
              <a:rPr lang="en-US" altLang="ko-KR" dirty="0">
                <a:solidFill>
                  <a:srgbClr val="004A82"/>
                </a:solidFill>
              </a:rPr>
              <a:t>)</a:t>
            </a:r>
            <a:r>
              <a:rPr lang="ko-KR" altLang="en-US" dirty="0">
                <a:solidFill>
                  <a:srgbClr val="004A82"/>
                </a:solidFill>
              </a:rPr>
              <a:t>의 식별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측정 범위</a:t>
            </a:r>
            <a:r>
              <a:rPr lang="en-US" altLang="ko-KR" dirty="0"/>
              <a:t>:</a:t>
            </a:r>
            <a:r>
              <a:rPr lang="ko-KR" altLang="en-US" dirty="0"/>
              <a:t> 기능 점수를 측정하고자 하는 대상</a:t>
            </a:r>
            <a:endParaRPr lang="en-US" altLang="ko-KR" dirty="0"/>
          </a:p>
          <a:p>
            <a:pPr lvl="1"/>
            <a:r>
              <a:rPr lang="ko-KR" altLang="en-US" dirty="0"/>
              <a:t>측정 대상</a:t>
            </a:r>
            <a:r>
              <a:rPr lang="en-US" altLang="ko-KR" dirty="0"/>
              <a:t>: </a:t>
            </a:r>
            <a:r>
              <a:rPr lang="ko-KR" altLang="en-US" dirty="0"/>
              <a:t>개발하고자 하는 전체 소프트웨어 또는 소프트웨어의 일부 시스템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애플리케이션 경계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금번 기능 점수를 계산하는 대상과 다른 애플리케이션이나 외부 사용자를 구분하는 경계</a:t>
            </a:r>
            <a:endParaRPr lang="en-US" altLang="ko-KR" dirty="0"/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애플리케이션 경계 식별 시 주의 점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사용자 관점에서 경계 구분</a:t>
            </a:r>
            <a:endParaRPr lang="en-US" altLang="ko-KR" dirty="0"/>
          </a:p>
          <a:p>
            <a:pPr lvl="1"/>
            <a:r>
              <a:rPr lang="ko-KR" altLang="en-US" dirty="0"/>
              <a:t>개발자 관점</a:t>
            </a:r>
            <a:r>
              <a:rPr lang="en-US" altLang="ko-KR" dirty="0"/>
              <a:t>(</a:t>
            </a:r>
            <a:r>
              <a:rPr lang="ko-KR" altLang="en-US" dirty="0"/>
              <a:t>클라이언트</a:t>
            </a:r>
            <a:r>
              <a:rPr lang="en-US" altLang="ko-KR" dirty="0"/>
              <a:t>/</a:t>
            </a:r>
            <a:r>
              <a:rPr lang="ko-KR" altLang="en-US" dirty="0"/>
              <a:t>서버</a:t>
            </a:r>
            <a:r>
              <a:rPr lang="en-US" altLang="ko-KR" dirty="0"/>
              <a:t>, </a:t>
            </a:r>
            <a:r>
              <a:rPr lang="ko-KR" altLang="en-US" dirty="0"/>
              <a:t>서버</a:t>
            </a:r>
            <a:r>
              <a:rPr lang="en-US" altLang="ko-KR" dirty="0"/>
              <a:t>/</a:t>
            </a:r>
            <a:r>
              <a:rPr lang="ko-KR" altLang="en-US" dirty="0"/>
              <a:t>비즈니스 </a:t>
            </a:r>
            <a:r>
              <a:rPr lang="ko-KR" altLang="en-US" dirty="0" err="1"/>
              <a:t>로직</a:t>
            </a:r>
            <a:r>
              <a:rPr lang="en-US" altLang="ko-KR" dirty="0"/>
              <a:t>/</a:t>
            </a:r>
            <a:r>
              <a:rPr lang="ko-KR" altLang="en-US" dirty="0"/>
              <a:t>클라이언트 계층</a:t>
            </a:r>
            <a:r>
              <a:rPr lang="en-US" altLang="ko-KR" dirty="0"/>
              <a:t>)</a:t>
            </a:r>
            <a:r>
              <a:rPr lang="ko-KR" altLang="en-US" dirty="0"/>
              <a:t>으로 구분하면 안됨</a:t>
            </a:r>
            <a:endParaRPr lang="en-US" altLang="ko-KR" dirty="0"/>
          </a:p>
          <a:p>
            <a:pPr lvl="1"/>
            <a:r>
              <a:rPr lang="ko-KR" altLang="en-US" dirty="0"/>
              <a:t>애플리케이션의 경계의 크기가 적당해야 함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8907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10-3 </a:t>
            </a:r>
            <a:r>
              <a:rPr lang="ko-KR" altLang="en-US" dirty="0"/>
              <a:t>데이터 기능 점수 계산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데이터 기능 점수 계산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내부 논리 파일</a:t>
            </a:r>
            <a:r>
              <a:rPr lang="en-US" altLang="ko-KR" dirty="0"/>
              <a:t>(ILF)</a:t>
            </a:r>
            <a:r>
              <a:rPr lang="ko-KR" altLang="en-US" dirty="0"/>
              <a:t>의 개수와 외부 연계 파일</a:t>
            </a:r>
            <a:r>
              <a:rPr lang="en-US" altLang="ko-KR" dirty="0"/>
              <a:t>(EIF)</a:t>
            </a:r>
            <a:r>
              <a:rPr lang="ko-KR" altLang="en-US" dirty="0"/>
              <a:t>의 개수를 계산하여 각각의 평균 복잡도</a:t>
            </a:r>
            <a:r>
              <a:rPr lang="en-US" altLang="ko-KR" dirty="0"/>
              <a:t>(</a:t>
            </a:r>
            <a:r>
              <a:rPr lang="ko-KR" altLang="en-US" dirty="0"/>
              <a:t>가중치</a:t>
            </a:r>
            <a:r>
              <a:rPr lang="en-US" altLang="ko-KR" dirty="0"/>
              <a:t>)</a:t>
            </a:r>
            <a:r>
              <a:rPr lang="ko-KR" altLang="en-US" dirty="0"/>
              <a:t>에 따라 데이터 기능 점수 결정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5" y="2882280"/>
            <a:ext cx="84963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668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10-3 </a:t>
            </a:r>
            <a:r>
              <a:rPr lang="ko-KR" altLang="en-US" dirty="0"/>
              <a:t>데이터 기능 점수 계산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내부 논리 파일</a:t>
            </a:r>
            <a:r>
              <a:rPr lang="en-US" altLang="ko-KR" baseline="30000" dirty="0">
                <a:solidFill>
                  <a:srgbClr val="004A82"/>
                </a:solidFill>
              </a:rPr>
              <a:t>ILF: Internal Logical File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사용자가 등록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r>
              <a:rPr lang="en-US" altLang="ko-KR" dirty="0"/>
              <a:t>/</a:t>
            </a:r>
            <a:r>
              <a:rPr lang="ko-KR" altLang="en-US" dirty="0"/>
              <a:t>조회를 하기 위한 대상</a:t>
            </a:r>
            <a:endParaRPr lang="en-US" altLang="ko-KR" dirty="0"/>
          </a:p>
          <a:p>
            <a:pPr lvl="1"/>
            <a:r>
              <a:rPr lang="ko-KR" altLang="en-US" dirty="0"/>
              <a:t>데이터베이스에 존재하는 데이터 모임</a:t>
            </a:r>
            <a:r>
              <a:rPr lang="en-US" altLang="ko-KR" dirty="0"/>
              <a:t>(</a:t>
            </a:r>
            <a:r>
              <a:rPr lang="ko-KR" altLang="en-US" dirty="0"/>
              <a:t>데이터베이스의 정보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데이터베이스 정보</a:t>
            </a:r>
            <a:r>
              <a:rPr lang="en-US" altLang="ko-KR" dirty="0"/>
              <a:t>: </a:t>
            </a:r>
            <a:r>
              <a:rPr lang="ko-KR" altLang="en-US" dirty="0"/>
              <a:t>기능 점수 측정 대상으로</a:t>
            </a:r>
            <a:r>
              <a:rPr lang="en-US" altLang="ko-KR" dirty="0"/>
              <a:t> </a:t>
            </a:r>
            <a:r>
              <a:rPr lang="ko-KR" altLang="en-US" dirty="0"/>
              <a:t>애플리케이션 내부에서 파일로 유지</a:t>
            </a:r>
            <a:endParaRPr lang="en-US" altLang="ko-KR" dirty="0"/>
          </a:p>
          <a:p>
            <a:pPr lvl="1"/>
            <a:r>
              <a:rPr lang="ko-KR" altLang="en-US" dirty="0"/>
              <a:t>데이터베이스 테이블</a:t>
            </a:r>
            <a:r>
              <a:rPr lang="en-US" altLang="ko-KR" dirty="0"/>
              <a:t>, </a:t>
            </a:r>
            <a:r>
              <a:rPr lang="ko-KR" altLang="en-US" dirty="0"/>
              <a:t>시스템 내부에서 다루는 파일</a:t>
            </a:r>
            <a:r>
              <a:rPr lang="en-US" altLang="ko-KR" dirty="0"/>
              <a:t>, </a:t>
            </a:r>
            <a:r>
              <a:rPr lang="ko-KR" altLang="en-US" dirty="0"/>
              <a:t>클래스 등</a:t>
            </a:r>
            <a:endParaRPr lang="en-US" altLang="ko-KR" dirty="0"/>
          </a:p>
          <a:p>
            <a:pPr lvl="1"/>
            <a:r>
              <a:rPr lang="ko-KR" altLang="en-US" dirty="0"/>
              <a:t>애플리케이션에 존재하는 데이터를 논리적으로 모아놓은 것</a:t>
            </a:r>
            <a:endParaRPr lang="en-US" altLang="ko-KR" dirty="0"/>
          </a:p>
          <a:p>
            <a:pPr lvl="1"/>
            <a:r>
              <a:rPr lang="ko-KR" altLang="en-US" dirty="0"/>
              <a:t>금번 프로젝트에서 생성하여 관리하는 데이터</a:t>
            </a:r>
            <a:endParaRPr lang="en-US" altLang="ko-KR" dirty="0"/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>
                <a:solidFill>
                  <a:srgbClr val="004A82"/>
                </a:solidFill>
              </a:rPr>
              <a:t>외부 연계 파일</a:t>
            </a:r>
            <a:r>
              <a:rPr lang="en-US" altLang="ko-KR" baseline="30000" dirty="0">
                <a:solidFill>
                  <a:srgbClr val="004A82"/>
                </a:solidFill>
              </a:rPr>
              <a:t>EIF: External Interface File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측정 대상 애플리케이션에서는 참조만 하고 다른 애플리케이션에서 유지되는 파일</a:t>
            </a:r>
            <a:endParaRPr lang="en-US" altLang="ko-KR" dirty="0"/>
          </a:p>
          <a:p>
            <a:pPr lvl="1"/>
            <a:r>
              <a:rPr lang="ko-KR" altLang="en-US" dirty="0"/>
              <a:t>다른 프로젝트에서 생성하였으나 금번 프로젝트에서 참조하는 데이터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645839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10-3 </a:t>
            </a:r>
            <a:r>
              <a:rPr lang="ko-KR" altLang="en-US" dirty="0"/>
              <a:t>데이터 기능 점수 계산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1673805"/>
            <a:ext cx="7829550" cy="15430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36585" y="4104075"/>
            <a:ext cx="7649530" cy="12601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데이터 기능 점수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{(ILF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개수</a:t>
            </a:r>
            <a:r>
              <a:rPr lang="en-US" altLang="ko-KR" dirty="0">
                <a:solidFill>
                  <a:srgbClr val="0000FF"/>
                </a:solidFill>
              </a:rPr>
              <a:t>×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7.5) +EIF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개수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rgbClr val="0000FF"/>
                </a:solidFill>
              </a:rPr>
              <a:t>×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5.4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)} 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7.5: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논리 파일의 평균 복잡도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5.4: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연계 파일의 평균 복잡도 </a:t>
            </a:r>
          </a:p>
        </p:txBody>
      </p:sp>
    </p:spTree>
    <p:extLst>
      <p:ext uri="{BB962C8B-B14F-4D97-AF65-F5344CB8AC3E}">
        <p14:creationId xmlns:p14="http://schemas.microsoft.com/office/powerpoint/2010/main" val="29631022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10-4 </a:t>
            </a:r>
            <a:r>
              <a:rPr lang="ko-KR" altLang="en-US" dirty="0"/>
              <a:t>트랜잭션 기능 점수 계산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트랜잭션 기능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</a:t>
            </a:r>
            <a:r>
              <a:rPr lang="en-US" altLang="ko-KR" dirty="0"/>
              <a:t>, </a:t>
            </a:r>
            <a:r>
              <a:rPr lang="ko-KR" altLang="en-US" dirty="0"/>
              <a:t>조회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트랜잭션 기능 측정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외부 입력</a:t>
            </a:r>
            <a:r>
              <a:rPr lang="en-US" altLang="ko-KR" dirty="0"/>
              <a:t>, </a:t>
            </a:r>
            <a:r>
              <a:rPr lang="ko-KR" altLang="en-US" dirty="0"/>
              <a:t>외부 출력</a:t>
            </a:r>
            <a:r>
              <a:rPr lang="en-US" altLang="ko-KR" dirty="0"/>
              <a:t>, </a:t>
            </a:r>
            <a:r>
              <a:rPr lang="ko-KR" altLang="en-US" dirty="0"/>
              <a:t>외부 조회의 횟수를 세는 것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트랜잭션 기능 점수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en-US" altLang="ko-KR" dirty="0"/>
              <a:t>{</a:t>
            </a:r>
            <a:r>
              <a:rPr lang="ko-KR" altLang="en-US" dirty="0"/>
              <a:t>외부 입력</a:t>
            </a:r>
            <a:r>
              <a:rPr lang="en-US" altLang="ko-KR" dirty="0"/>
              <a:t>, </a:t>
            </a:r>
            <a:r>
              <a:rPr lang="ko-KR" altLang="en-US" dirty="0"/>
              <a:t>외부 출력</a:t>
            </a:r>
            <a:r>
              <a:rPr lang="en-US" altLang="ko-KR" dirty="0"/>
              <a:t>, </a:t>
            </a:r>
            <a:r>
              <a:rPr lang="ko-KR" altLang="en-US" dirty="0"/>
              <a:t>외부 조회</a:t>
            </a:r>
            <a:r>
              <a:rPr lang="en-US" altLang="ko-KR" dirty="0"/>
              <a:t>}</a:t>
            </a:r>
            <a:r>
              <a:rPr lang="ko-KR" altLang="en-US" dirty="0"/>
              <a:t>의 개수 </a:t>
            </a:r>
            <a:r>
              <a:rPr lang="en-US" altLang="ko-KR" dirty="0"/>
              <a:t>X </a:t>
            </a:r>
            <a:r>
              <a:rPr lang="ko-KR" altLang="en-US" dirty="0"/>
              <a:t>각각의 평균복잡도</a:t>
            </a:r>
            <a:r>
              <a:rPr lang="en-US" altLang="ko-KR" dirty="0"/>
              <a:t>(</a:t>
            </a:r>
            <a:r>
              <a:rPr lang="ko-KR" altLang="en-US" dirty="0"/>
              <a:t>가중치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3989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10-4 </a:t>
            </a:r>
            <a:r>
              <a:rPr lang="ko-KR" altLang="en-US" dirty="0"/>
              <a:t>기능 유형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외부 입력</a:t>
            </a:r>
            <a:r>
              <a:rPr lang="en-US" altLang="ko-KR" baseline="30000" dirty="0">
                <a:solidFill>
                  <a:srgbClr val="004A82"/>
                </a:solidFill>
              </a:rPr>
              <a:t>external input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데이터베이스에 데이터를 등록하거나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·</a:t>
            </a:r>
            <a:r>
              <a:rPr lang="ko-KR" altLang="en-US" dirty="0"/>
              <a:t>삭제하는 것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(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학생 정보 등록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외부 출력</a:t>
            </a:r>
            <a:r>
              <a:rPr lang="en-US" altLang="ko-KR" baseline="30000" dirty="0">
                <a:solidFill>
                  <a:srgbClr val="004A82"/>
                </a:solidFill>
              </a:rPr>
              <a:t>external output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계산하는 </a:t>
            </a:r>
            <a:r>
              <a:rPr lang="ko-KR" altLang="en-US" dirty="0" err="1"/>
              <a:t>로직을</a:t>
            </a:r>
            <a:r>
              <a:rPr lang="ko-KR" altLang="en-US" dirty="0"/>
              <a:t> 거쳐 데이터나 제어 정보를 사용자에게 보여주는 기능</a:t>
            </a:r>
            <a:r>
              <a:rPr lang="en-US" altLang="ko-KR" dirty="0"/>
              <a:t>  </a:t>
            </a:r>
          </a:p>
          <a:p>
            <a:pPr lvl="1"/>
            <a:r>
              <a:rPr lang="ko-KR" altLang="en-US" dirty="0"/>
              <a:t>수학적 계산 </a:t>
            </a:r>
            <a:r>
              <a:rPr lang="ko-KR" altLang="en-US" dirty="0" err="1"/>
              <a:t>로직이</a:t>
            </a:r>
            <a:r>
              <a:rPr lang="ko-KR" altLang="en-US" dirty="0"/>
              <a:t> 하나 이상 존재하며 그에 따른 파생 데이터도 존재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(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학생 학점 조회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외부 조회</a:t>
            </a:r>
            <a:r>
              <a:rPr lang="en-US" altLang="ko-KR" baseline="30000" dirty="0">
                <a:solidFill>
                  <a:srgbClr val="004A82"/>
                </a:solidFill>
              </a:rPr>
              <a:t>external inquiry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 err="1"/>
              <a:t>로직이</a:t>
            </a:r>
            <a:r>
              <a:rPr lang="ko-KR" altLang="en-US" dirty="0"/>
              <a:t> 필요 없고 </a:t>
            </a:r>
            <a:r>
              <a:rPr lang="en-US" altLang="ko-KR" dirty="0"/>
              <a:t>DB</a:t>
            </a:r>
            <a:r>
              <a:rPr lang="ko-KR" altLang="en-US" dirty="0"/>
              <a:t>에 존재하는 데이터를 찾아 그대로 표시만 해주는 기능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(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학생 주소 검색</a:t>
            </a:r>
            <a:r>
              <a:rPr lang="en-US" altLang="ko-KR" dirty="0"/>
              <a:t>, </a:t>
            </a:r>
            <a:r>
              <a:rPr lang="ko-KR" altLang="en-US" dirty="0"/>
              <a:t>학생 정보 조회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76428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10-4 </a:t>
            </a:r>
            <a:r>
              <a:rPr lang="ko-KR" altLang="en-US" dirty="0"/>
              <a:t>트랜잭션 기능의 예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12" y="728700"/>
            <a:ext cx="7791450" cy="385762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90212" y="4914165"/>
            <a:ext cx="7791450" cy="15751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트랜잭션 기능 점수 </a:t>
            </a:r>
            <a:r>
              <a:rPr lang="en-US" altLang="ko-KR" dirty="0">
                <a:solidFill>
                  <a:schemeClr val="tx1"/>
                </a:solidFill>
              </a:rPr>
              <a:t>= {(EI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rgbClr val="0000FF"/>
                </a:solidFill>
              </a:rPr>
              <a:t> × </a:t>
            </a:r>
            <a:r>
              <a:rPr lang="en-US" altLang="ko-KR" dirty="0">
                <a:solidFill>
                  <a:schemeClr val="tx1"/>
                </a:solidFill>
              </a:rPr>
              <a:t>4.0) + (EO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rgbClr val="0000FF"/>
                </a:solidFill>
              </a:rPr>
              <a:t> × </a:t>
            </a:r>
            <a:r>
              <a:rPr lang="en-US" altLang="ko-KR" dirty="0">
                <a:solidFill>
                  <a:schemeClr val="tx1"/>
                </a:solidFill>
              </a:rPr>
              <a:t>5.2) + (EQ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rgbClr val="0000FF"/>
                </a:solidFill>
              </a:rPr>
              <a:t> × </a:t>
            </a:r>
            <a:r>
              <a:rPr lang="en-US" altLang="ko-KR" dirty="0">
                <a:solidFill>
                  <a:schemeClr val="tx1"/>
                </a:solidFill>
              </a:rPr>
              <a:t>3.9)}</a:t>
            </a:r>
          </a:p>
          <a:p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4.0: </a:t>
            </a:r>
            <a:r>
              <a:rPr lang="ko-KR" altLang="en-US" sz="1600" dirty="0">
                <a:solidFill>
                  <a:schemeClr val="tx1"/>
                </a:solidFill>
              </a:rPr>
              <a:t>외부 입력의 평균 복잡도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5.2: </a:t>
            </a:r>
            <a:r>
              <a:rPr lang="ko-KR" altLang="en-US" sz="1600" dirty="0">
                <a:solidFill>
                  <a:schemeClr val="tx1"/>
                </a:solidFill>
              </a:rPr>
              <a:t>외부 출력의 평균 복잡도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3.9: </a:t>
            </a:r>
            <a:r>
              <a:rPr lang="ko-KR" altLang="en-US" sz="1600" dirty="0">
                <a:solidFill>
                  <a:schemeClr val="tx1"/>
                </a:solidFill>
              </a:rPr>
              <a:t>외부 조회의 평균 복잡도</a:t>
            </a:r>
            <a:endParaRPr lang="en-US" altLang="ko-KR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871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10-5 </a:t>
            </a:r>
            <a:r>
              <a:rPr lang="ko-KR" altLang="en-US" dirty="0"/>
              <a:t>미조정 기능 점수 계산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미조정 기능 점수</a:t>
            </a:r>
            <a:r>
              <a:rPr lang="en-US" altLang="ko-KR" baseline="30000" dirty="0">
                <a:solidFill>
                  <a:srgbClr val="004A82"/>
                </a:solidFill>
              </a:rPr>
              <a:t>UFP: Unadjusted Function Point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데이터 기능 점수 </a:t>
            </a:r>
            <a:r>
              <a:rPr lang="en-US" altLang="ko-KR" dirty="0"/>
              <a:t>+ </a:t>
            </a:r>
            <a:r>
              <a:rPr lang="ko-KR" altLang="en-US" dirty="0"/>
              <a:t>트랜잭션 기능 점수</a:t>
            </a:r>
            <a:endParaRPr lang="en-US" altLang="ko-KR" dirty="0"/>
          </a:p>
          <a:p>
            <a:pPr lvl="1"/>
            <a:r>
              <a:rPr lang="ko-KR" altLang="en-US" dirty="0"/>
              <a:t>단순히 기능적인 요구 사항에 대해서만 계산</a:t>
            </a:r>
            <a:endParaRPr lang="en-US" altLang="ko-KR" dirty="0"/>
          </a:p>
          <a:p>
            <a:pPr lvl="1"/>
            <a:r>
              <a:rPr lang="ko-KR" altLang="en-US" dirty="0"/>
              <a:t>여러 가지 특성에 대한 고려를 하지 않음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248980"/>
            <a:ext cx="80772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81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10-6 </a:t>
            </a:r>
            <a:r>
              <a:rPr lang="ko-KR" altLang="en-US" dirty="0"/>
              <a:t>보정 전 개발 원가 계산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보정 전 개발 원가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미조정 기능 점수 </a:t>
            </a:r>
            <a:r>
              <a:rPr lang="en-US" altLang="ko-KR" dirty="0"/>
              <a:t>X </a:t>
            </a:r>
            <a:r>
              <a:rPr lang="ko-KR" altLang="en-US" dirty="0"/>
              <a:t>기능</a:t>
            </a:r>
            <a:r>
              <a:rPr lang="en-US" altLang="ko-KR" dirty="0"/>
              <a:t> </a:t>
            </a:r>
            <a:r>
              <a:rPr lang="ko-KR" altLang="en-US" dirty="0"/>
              <a:t>점수당 단가</a:t>
            </a:r>
            <a:endParaRPr lang="en-US" altLang="ko-KR" dirty="0"/>
          </a:p>
          <a:p>
            <a:pPr lvl="2"/>
            <a:r>
              <a:rPr lang="ko-KR" altLang="en-US" dirty="0"/>
              <a:t>기능</a:t>
            </a:r>
            <a:r>
              <a:rPr lang="en-US" altLang="ko-KR" dirty="0"/>
              <a:t> </a:t>
            </a:r>
            <a:r>
              <a:rPr lang="ko-KR" altLang="en-US" dirty="0"/>
              <a:t>점수당 단가</a:t>
            </a:r>
            <a:r>
              <a:rPr lang="en-US" altLang="ko-KR" dirty="0"/>
              <a:t>: </a:t>
            </a:r>
            <a:r>
              <a:rPr lang="en-US" altLang="ko-KR" dirty="0" smtClean="0"/>
              <a:t>553,114</a:t>
            </a:r>
            <a:r>
              <a:rPr lang="ko-KR" altLang="en-US" dirty="0" smtClean="0"/>
              <a:t>원</a:t>
            </a:r>
            <a:r>
              <a:rPr lang="en-US" altLang="ko-KR" dirty="0"/>
              <a:t>(</a:t>
            </a:r>
            <a:r>
              <a:rPr lang="ko-KR" altLang="en-US" dirty="0"/>
              <a:t>출처</a:t>
            </a:r>
            <a:r>
              <a:rPr lang="en-US" altLang="ko-KR" dirty="0"/>
              <a:t>: SW</a:t>
            </a:r>
            <a:r>
              <a:rPr lang="ko-KR" altLang="en-US" dirty="0"/>
              <a:t>사업대가산정 가이드</a:t>
            </a:r>
            <a:r>
              <a:rPr lang="en-US" altLang="ko-KR" dirty="0"/>
              <a:t>)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분석</a:t>
            </a:r>
            <a:r>
              <a:rPr lang="en-US" altLang="ko-KR" dirty="0" smtClean="0"/>
              <a:t>/</a:t>
            </a:r>
            <a:r>
              <a:rPr lang="ko-KR" altLang="en-US" dirty="0" smtClean="0"/>
              <a:t>설계와 구현</a:t>
            </a:r>
            <a:r>
              <a:rPr lang="en-US" altLang="ko-KR" dirty="0" smtClean="0"/>
              <a:t>/</a:t>
            </a:r>
            <a:r>
              <a:rPr lang="ko-KR" altLang="en-US" dirty="0" smtClean="0"/>
              <a:t>테스트를 구분해 별도의 사업으로 진행 시</a:t>
            </a:r>
            <a:r>
              <a:rPr lang="en-US" altLang="ko-KR" dirty="0" smtClean="0"/>
              <a:t>, </a:t>
            </a:r>
          </a:p>
          <a:p>
            <a:pPr marL="4572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복잡도 가중치와 가중치에 따른 단계별 단가를 적용</a:t>
            </a:r>
            <a:endParaRPr lang="en-US" altLang="ko-KR" dirty="0"/>
          </a:p>
        </p:txBody>
      </p:sp>
      <p:pic>
        <p:nvPicPr>
          <p:cNvPr id="6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1" y="2168860"/>
            <a:ext cx="6382584" cy="945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36" y="4284095"/>
            <a:ext cx="6640212" cy="1260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3120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10-7 </a:t>
            </a:r>
            <a:r>
              <a:rPr lang="ko-KR" altLang="en-US" dirty="0"/>
              <a:t>보정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dirty="0" err="1"/>
              <a:t>점수계산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ko-KR" altLang="en-US" dirty="0"/>
              <a:t>간이 기능 </a:t>
            </a:r>
            <a:r>
              <a:rPr lang="ko-KR" altLang="en-US" dirty="0" err="1"/>
              <a:t>점수법을</a:t>
            </a:r>
            <a:r>
              <a:rPr lang="ko-KR" altLang="en-US" dirty="0"/>
              <a:t> 이용한 기능 점수 산정 방법</a:t>
            </a:r>
            <a:endParaRPr lang="en-US" altLang="ko-KR" dirty="0"/>
          </a:p>
          <a:p>
            <a:pPr lvl="1">
              <a:defRPr/>
            </a:pPr>
            <a:r>
              <a:rPr lang="ko-KR" altLang="en-US" sz="1900" b="1" dirty="0"/>
              <a:t>보정 계수</a:t>
            </a:r>
            <a:endParaRPr lang="en-US" altLang="ko-KR" sz="1900" b="1" dirty="0"/>
          </a:p>
          <a:p>
            <a:pPr lvl="2">
              <a:defRPr/>
            </a:pPr>
            <a:r>
              <a:rPr lang="ko-KR" altLang="en-US" sz="1700" b="1" dirty="0"/>
              <a:t>보정 계수의 필요성</a:t>
            </a:r>
            <a:endParaRPr lang="en-US" altLang="ko-KR" sz="1700" b="1" dirty="0"/>
          </a:p>
          <a:p>
            <a:pPr lvl="3">
              <a:defRPr/>
            </a:pPr>
            <a:r>
              <a:rPr lang="ko-KR" altLang="en-US" dirty="0"/>
              <a:t>규모와 유형도 다양하고</a:t>
            </a:r>
            <a:r>
              <a:rPr lang="en-US" altLang="ko-KR" dirty="0"/>
              <a:t>, </a:t>
            </a:r>
            <a:r>
              <a:rPr lang="ko-KR" altLang="en-US" dirty="0"/>
              <a:t>연계 복잡성 수준</a:t>
            </a:r>
            <a:r>
              <a:rPr lang="en-US" altLang="ko-KR" dirty="0"/>
              <a:t>, </a:t>
            </a:r>
            <a:r>
              <a:rPr lang="ko-KR" altLang="en-US" dirty="0" err="1"/>
              <a:t>성능요구</a:t>
            </a:r>
            <a:r>
              <a:rPr lang="ko-KR" altLang="en-US" dirty="0"/>
              <a:t> 수준</a:t>
            </a:r>
            <a:r>
              <a:rPr lang="en-US" altLang="ko-KR" dirty="0"/>
              <a:t>, </a:t>
            </a:r>
            <a:r>
              <a:rPr lang="ko-KR" altLang="en-US" dirty="0"/>
              <a:t>운영 환경 호환성</a:t>
            </a:r>
            <a:r>
              <a:rPr lang="en-US" altLang="ko-KR" dirty="0"/>
              <a:t>, </a:t>
            </a:r>
            <a:r>
              <a:rPr lang="ko-KR" altLang="en-US" dirty="0" err="1"/>
              <a:t>보안성</a:t>
            </a:r>
            <a:r>
              <a:rPr lang="ko-KR" altLang="en-US" dirty="0"/>
              <a:t> 수준이 프로젝트의 특성에 따라 다름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실제 개발 비용에 영향을 미치므로 이들에 대 해 보정 계수를 정하고 이를 반영해 보정한 후 개발 원가를 구해야 함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sz="1700" b="1" dirty="0"/>
              <a:t>규모 보정 계수</a:t>
            </a:r>
            <a:endParaRPr lang="en-US" altLang="ko-KR" sz="1700" b="1" dirty="0"/>
          </a:p>
          <a:p>
            <a:pPr lvl="3">
              <a:defRPr/>
            </a:pPr>
            <a:r>
              <a:rPr lang="ko-KR" altLang="en-US" dirty="0"/>
              <a:t>기능 점수가 </a:t>
            </a:r>
            <a:r>
              <a:rPr lang="en-US" altLang="ko-KR" dirty="0"/>
              <a:t>500FP </a:t>
            </a:r>
            <a:r>
              <a:rPr lang="ko-KR" altLang="en-US" dirty="0"/>
              <a:t>미만이면 규모 보정 계수 </a:t>
            </a:r>
            <a:r>
              <a:rPr lang="en-US" altLang="ko-KR" dirty="0"/>
              <a:t>1.28</a:t>
            </a:r>
            <a:r>
              <a:rPr lang="ko-KR" altLang="en-US" dirty="0"/>
              <a:t>을</a:t>
            </a:r>
            <a:r>
              <a:rPr lang="en-US" altLang="ko-KR" dirty="0"/>
              <a:t>, 3,000FP </a:t>
            </a:r>
            <a:r>
              <a:rPr lang="ko-KR" altLang="en-US" dirty="0"/>
              <a:t>초과이면 </a:t>
            </a:r>
            <a:r>
              <a:rPr lang="en-US" altLang="ko-KR" dirty="0"/>
              <a:t>1.153</a:t>
            </a:r>
            <a:r>
              <a:rPr lang="ko-KR" altLang="en-US" dirty="0"/>
              <a:t>을 적용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sz="1700" b="1" dirty="0"/>
              <a:t>애플리케이션 복잡도 보정 계수</a:t>
            </a:r>
            <a:endParaRPr lang="en-US" altLang="ko-KR" sz="1700" b="1" dirty="0"/>
          </a:p>
          <a:p>
            <a:pPr lvl="3">
              <a:defRPr/>
            </a:pPr>
            <a:r>
              <a:rPr lang="ko-KR" altLang="en-US" dirty="0"/>
              <a:t>사용자가 요구하는 소프트웨어가 복잡하다면 어려운 만큼의 보정 계수를 적용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애플리케이션의 복잡도는 연계 복잡성 수준</a:t>
            </a:r>
            <a:r>
              <a:rPr lang="en-US" altLang="ko-KR" dirty="0"/>
              <a:t>, </a:t>
            </a:r>
            <a:r>
              <a:rPr lang="ko-KR" altLang="en-US" dirty="0" err="1"/>
              <a:t>성능요구</a:t>
            </a:r>
            <a:r>
              <a:rPr lang="ko-KR" altLang="en-US" dirty="0"/>
              <a:t> 수준</a:t>
            </a:r>
            <a:r>
              <a:rPr lang="en-US" altLang="ko-KR" dirty="0"/>
              <a:t>, </a:t>
            </a:r>
            <a:r>
              <a:rPr lang="ko-KR" altLang="en-US" dirty="0"/>
              <a:t>운영 환경 호환성</a:t>
            </a:r>
            <a:r>
              <a:rPr lang="en-US" altLang="ko-KR" dirty="0"/>
              <a:t>, </a:t>
            </a:r>
            <a:r>
              <a:rPr lang="ko-KR" altLang="en-US" dirty="0" err="1"/>
              <a:t>보안성</a:t>
            </a:r>
            <a:r>
              <a:rPr lang="ko-KR" altLang="en-US" dirty="0"/>
              <a:t> 수준으로 나뉨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6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645" y="3879050"/>
            <a:ext cx="53197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08412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10-7 </a:t>
            </a:r>
            <a:r>
              <a:rPr lang="ko-KR" altLang="en-US" dirty="0"/>
              <a:t>보정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dirty="0" err="1"/>
              <a:t>점수계산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0" y="510406"/>
            <a:ext cx="8963994" cy="566995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간이 기능 </a:t>
            </a:r>
            <a:r>
              <a:rPr lang="ko-KR" altLang="en-US" dirty="0" err="1"/>
              <a:t>점수법을</a:t>
            </a:r>
            <a:r>
              <a:rPr lang="ko-KR" altLang="en-US" dirty="0"/>
              <a:t> 이용한 기능 점수 산정 방법</a:t>
            </a:r>
            <a:endParaRPr lang="en-US" altLang="ko-KR" dirty="0"/>
          </a:p>
          <a:p>
            <a:pPr lvl="1">
              <a:defRPr/>
            </a:pPr>
            <a:r>
              <a:rPr lang="ko-KR" altLang="en-US" sz="1800" b="1" dirty="0"/>
              <a:t>보정 계수</a:t>
            </a:r>
            <a:endParaRPr lang="en-US" altLang="ko-KR" sz="1800" b="1" dirty="0"/>
          </a:p>
          <a:p>
            <a:pPr lvl="2">
              <a:defRPr/>
            </a:pPr>
            <a:r>
              <a:rPr lang="ko-KR" altLang="en-US" sz="1600" b="1" dirty="0"/>
              <a:t>애플리케이션 복잡도 보정 계수</a:t>
            </a:r>
            <a:endParaRPr lang="en-US" altLang="ko-KR" sz="1600" b="1" dirty="0"/>
          </a:p>
          <a:p>
            <a:pPr lvl="3">
              <a:defRPr/>
            </a:pPr>
            <a:r>
              <a:rPr lang="ko-KR" altLang="en-US" dirty="0"/>
              <a:t>연계 복잡성 수준 </a:t>
            </a:r>
            <a:endParaRPr lang="en-US" altLang="ko-KR" dirty="0"/>
          </a:p>
          <a:p>
            <a:pPr lvl="4">
              <a:defRPr/>
            </a:pPr>
            <a:r>
              <a:rPr lang="ko-KR" altLang="en-US" dirty="0"/>
              <a:t>연계 기관 수에 따른 보정 계수를 적용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 smtClean="0"/>
          </a:p>
          <a:p>
            <a:pPr lvl="3">
              <a:defRPr/>
            </a:pPr>
            <a:r>
              <a:rPr lang="ko-KR" altLang="en-US" dirty="0" err="1" smtClean="0"/>
              <a:t>성능요구</a:t>
            </a:r>
            <a:r>
              <a:rPr lang="ko-KR" altLang="en-US" dirty="0" smtClean="0"/>
              <a:t> </a:t>
            </a:r>
            <a:r>
              <a:rPr lang="ko-KR" altLang="en-US" dirty="0"/>
              <a:t>수준</a:t>
            </a:r>
            <a:endParaRPr lang="en-US" altLang="ko-KR" dirty="0"/>
          </a:p>
          <a:p>
            <a:pPr lvl="4">
              <a:defRPr/>
            </a:pPr>
            <a:r>
              <a:rPr lang="ko-KR" altLang="en-US" dirty="0"/>
              <a:t>개발하려는 소프트웨어에 대해 사용자가 빠른 응답시간 또는 높은 처리율을 요구한다면 소프트웨어의 복잡도는 높아짐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715" y="2438890"/>
            <a:ext cx="2159000" cy="141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655" y="4599130"/>
            <a:ext cx="4391025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9786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10-7 </a:t>
            </a:r>
            <a:r>
              <a:rPr lang="ko-KR" altLang="en-US" dirty="0"/>
              <a:t>보정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dirty="0" err="1"/>
              <a:t>점수계산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0" y="510406"/>
            <a:ext cx="8963994" cy="566995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간이 기능 </a:t>
            </a:r>
            <a:r>
              <a:rPr lang="ko-KR" altLang="en-US" dirty="0" err="1"/>
              <a:t>점수법을</a:t>
            </a:r>
            <a:r>
              <a:rPr lang="ko-KR" altLang="en-US" dirty="0"/>
              <a:t> 이용한 기능 점수 산정 방법</a:t>
            </a:r>
            <a:endParaRPr lang="en-US" altLang="ko-KR" dirty="0"/>
          </a:p>
          <a:p>
            <a:pPr lvl="1">
              <a:defRPr/>
            </a:pPr>
            <a:r>
              <a:rPr lang="ko-KR" altLang="en-US" sz="1800" b="1" dirty="0"/>
              <a:t>보정 계수</a:t>
            </a:r>
            <a:endParaRPr lang="en-US" altLang="ko-KR" sz="1800" b="1" dirty="0"/>
          </a:p>
          <a:p>
            <a:pPr lvl="2">
              <a:defRPr/>
            </a:pPr>
            <a:r>
              <a:rPr lang="ko-KR" altLang="en-US" b="1" dirty="0"/>
              <a:t>애플리케이션 복잡도 보정 계수</a:t>
            </a:r>
            <a:endParaRPr lang="en-US" altLang="ko-KR" b="1" dirty="0"/>
          </a:p>
          <a:p>
            <a:pPr lvl="3">
              <a:defRPr/>
            </a:pPr>
            <a:r>
              <a:rPr lang="ko-KR" altLang="en-US" dirty="0"/>
              <a:t>운영 환경 호환성</a:t>
            </a:r>
            <a:endParaRPr lang="en-US" altLang="ko-KR" dirty="0"/>
          </a:p>
          <a:p>
            <a:pPr lvl="4">
              <a:defRPr/>
            </a:pPr>
            <a:r>
              <a:rPr lang="ko-KR" altLang="en-US" dirty="0"/>
              <a:t>개발이 완료되어 설치할 때의 운영 환경</a:t>
            </a:r>
            <a:r>
              <a:rPr lang="en-US" altLang="ko-KR" dirty="0"/>
              <a:t>(HW/SW)</a:t>
            </a:r>
            <a:r>
              <a:rPr lang="ko-KR" altLang="en-US" dirty="0"/>
              <a:t>이 단순하지 않고 다음 표처럼 다양하다면 이를 보정 계수로 반영</a:t>
            </a:r>
            <a:endParaRPr lang="en-US" altLang="ko-KR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r>
              <a:rPr lang="en-US" altLang="ko-KR" dirty="0"/>
              <a:t> 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r>
              <a:rPr lang="ko-KR" altLang="en-US" dirty="0" err="1" smtClean="0"/>
              <a:t>보안성</a:t>
            </a:r>
            <a:r>
              <a:rPr lang="ko-KR" altLang="en-US" dirty="0" smtClean="0"/>
              <a:t> </a:t>
            </a:r>
            <a:r>
              <a:rPr lang="ko-KR" altLang="en-US" dirty="0"/>
              <a:t>수준</a:t>
            </a:r>
            <a:endParaRPr lang="en-US" altLang="ko-KR" dirty="0"/>
          </a:p>
          <a:p>
            <a:pPr lvl="4">
              <a:defRPr/>
            </a:pPr>
            <a:r>
              <a:rPr lang="ko-KR" altLang="en-US" dirty="0"/>
              <a:t>보안에 대한 요구가 많을수록 복잡도는 높아지고 이를 다음 표처럼 보정 계수로 반영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8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695" y="2433357"/>
            <a:ext cx="3906838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705" y="5138424"/>
            <a:ext cx="3949700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4422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10-9 </a:t>
            </a:r>
            <a:r>
              <a:rPr lang="ko-KR" altLang="en-US" dirty="0"/>
              <a:t>보정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dirty="0" err="1" smtClean="0"/>
              <a:t>개발원가</a:t>
            </a:r>
            <a:r>
              <a:rPr lang="ko-KR" altLang="en-US" dirty="0" smtClean="0"/>
              <a:t> 계산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9911" y="593685"/>
            <a:ext cx="8963994" cy="5669958"/>
          </a:xfrm>
        </p:spPr>
        <p:txBody>
          <a:bodyPr>
            <a:normAutofit/>
          </a:bodyPr>
          <a:lstStyle/>
          <a:p>
            <a:pPr lvl="4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간이 기능 </a:t>
            </a:r>
            <a:r>
              <a:rPr lang="ko-KR" altLang="en-US" dirty="0" err="1"/>
              <a:t>점수법을</a:t>
            </a:r>
            <a:r>
              <a:rPr lang="ko-KR" altLang="en-US" dirty="0"/>
              <a:t> 이용한 기능 점수 산정 방법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/>
              <a:t>보정 후 개발 원가 계산</a:t>
            </a:r>
            <a:endParaRPr lang="en-US" altLang="ko-KR" sz="1800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dirty="0"/>
          </a:p>
          <a:p>
            <a:pPr marL="982662" lvl="4" indent="0">
              <a:buNone/>
              <a:defRPr/>
            </a:pPr>
            <a:r>
              <a:rPr lang="en-US" altLang="ko-KR" dirty="0" smtClean="0"/>
              <a:t>- </a:t>
            </a:r>
            <a:r>
              <a:rPr lang="en-US" altLang="ko-KR" sz="1100" dirty="0" smtClean="0"/>
              <a:t>5</a:t>
            </a:r>
            <a:r>
              <a:rPr lang="ko-KR" altLang="en-US" sz="1100" dirty="0"/>
              <a:t>가지 보정 계수의 값을 구했다면 이 값을 적용해 보정한 후 개발 원가를 계산할 수 있음</a:t>
            </a:r>
            <a:endParaRPr lang="en-US" altLang="ko-KR" sz="1100" dirty="0"/>
          </a:p>
          <a:p>
            <a:pPr marL="982662" lvl="4" indent="0">
              <a:buNone/>
              <a:defRPr/>
            </a:pPr>
            <a:r>
              <a:rPr lang="en-US" altLang="ko-KR" dirty="0" smtClean="0"/>
              <a:t> 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6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856" y="1898830"/>
            <a:ext cx="5640388" cy="765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158970"/>
            <a:ext cx="4219575" cy="238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963" y="2933945"/>
            <a:ext cx="4448512" cy="3510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10836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08 </a:t>
            </a:r>
            <a:r>
              <a:rPr lang="ko-KR" altLang="en-US" dirty="0"/>
              <a:t>일정 계획</a:t>
            </a:r>
          </a:p>
        </p:txBody>
      </p:sp>
    </p:spTree>
    <p:extLst>
      <p:ext uri="{BB962C8B-B14F-4D97-AF65-F5344CB8AC3E}">
        <p14:creationId xmlns:p14="http://schemas.microsoft.com/office/powerpoint/2010/main" val="3600291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일정 계획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87" y="1014412"/>
            <a:ext cx="736282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711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1-1 SW </a:t>
            </a:r>
            <a:r>
              <a:rPr lang="ko-KR" altLang="en-US" dirty="0"/>
              <a:t>개발 프로젝트에서의 일정 계획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4A82"/>
                </a:solidFill>
              </a:rPr>
              <a:t>일정 계획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작업 순서 결정</a:t>
            </a:r>
            <a:r>
              <a:rPr lang="en-US" altLang="ko-KR" dirty="0"/>
              <a:t>, </a:t>
            </a:r>
            <a:r>
              <a:rPr lang="ko-KR" altLang="en-US" dirty="0" err="1"/>
              <a:t>소작업의</a:t>
            </a:r>
            <a:r>
              <a:rPr lang="ko-KR" altLang="en-US" dirty="0"/>
              <a:t> 개발 기간</a:t>
            </a:r>
            <a:r>
              <a:rPr lang="en-US" altLang="ko-KR" dirty="0"/>
              <a:t>, </a:t>
            </a:r>
            <a:r>
              <a:rPr lang="ko-KR" altLang="en-US" dirty="0"/>
              <a:t>순서</a:t>
            </a:r>
            <a:r>
              <a:rPr lang="en-US" altLang="ko-KR" dirty="0"/>
              <a:t>, </a:t>
            </a:r>
            <a:r>
              <a:rPr lang="ko-KR" altLang="en-US" dirty="0"/>
              <a:t>필요한 자원 등의 일정 계획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033845"/>
            <a:ext cx="80772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4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작업 분할 구조도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작업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  <a:r>
              <a:rPr lang="ko-KR" altLang="en-US" dirty="0">
                <a:solidFill>
                  <a:srgbClr val="004A82"/>
                </a:solidFill>
              </a:rPr>
              <a:t>분할 구조도</a:t>
            </a:r>
            <a:r>
              <a:rPr lang="en-US" altLang="ko-KR" dirty="0">
                <a:solidFill>
                  <a:srgbClr val="004A82"/>
                </a:solidFill>
              </a:rPr>
              <a:t>(WBS: Work Breakdown Structure)</a:t>
            </a:r>
          </a:p>
          <a:p>
            <a:pPr lvl="1"/>
            <a:r>
              <a:rPr lang="ko-KR" altLang="en-US" dirty="0"/>
              <a:t>프로젝트 목표를 달성하기 위해 필요한 활동과 업무를 세분화하는 작업</a:t>
            </a:r>
            <a:endParaRPr lang="en-US" altLang="ko-KR" dirty="0"/>
          </a:p>
          <a:p>
            <a:pPr lvl="1"/>
            <a:r>
              <a:rPr lang="ko-KR" altLang="en-US" dirty="0"/>
              <a:t>프로젝트 구성 요소들을 계층 구조로 분류</a:t>
            </a:r>
            <a:endParaRPr lang="en-US" altLang="ko-KR" dirty="0"/>
          </a:p>
          <a:p>
            <a:pPr lvl="1"/>
            <a:r>
              <a:rPr lang="ko-KR" altLang="en-US" dirty="0"/>
              <a:t>프로젝트의 전체 범위 정의</a:t>
            </a:r>
            <a:endParaRPr lang="en-US" altLang="ko-KR" dirty="0"/>
          </a:p>
          <a:p>
            <a:pPr lvl="1"/>
            <a:r>
              <a:rPr lang="ko-KR" altLang="en-US" dirty="0"/>
              <a:t>프로젝트 작업을 세분화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작업 패키지</a:t>
            </a:r>
            <a:r>
              <a:rPr lang="en-US" altLang="ko-KR" dirty="0">
                <a:solidFill>
                  <a:srgbClr val="004A82"/>
                </a:solidFill>
              </a:rPr>
              <a:t>(work package)</a:t>
            </a:r>
          </a:p>
          <a:p>
            <a:pPr lvl="1"/>
            <a:r>
              <a:rPr lang="ko-KR" altLang="en-US" dirty="0"/>
              <a:t>계층 구조에서 최하위에 있는 항목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52743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작업 분할 구조도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41" y="1223755"/>
            <a:ext cx="6565785" cy="484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748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작업 분할 구조도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작업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  <a:r>
              <a:rPr lang="ko-KR" altLang="en-US" dirty="0">
                <a:solidFill>
                  <a:srgbClr val="004A82"/>
                </a:solidFill>
              </a:rPr>
              <a:t>분할 구조도의 목적과 용도</a:t>
            </a:r>
            <a:endParaRPr lang="en-US" altLang="ko-KR" dirty="0">
              <a:solidFill>
                <a:srgbClr val="004A82"/>
              </a:solidFill>
            </a:endParaRPr>
          </a:p>
          <a:p>
            <a:pPr marL="457200" lvl="1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사용자와 개발자 간의 의사소통 도구로 사용함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프로젝트 업무 내역을 가시화할 수 있어 관리가 용이함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프로젝트 팀원의 책임과 역할이 분명함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필요 인력과 일정 계획을 세우는 데 기초로 활용함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개발비 산정 시 기초로 활용함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성과 측정 및 조정 시 기준선으로 활용할 수 있음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48234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네트워크 차트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4A82"/>
                </a:solidFill>
              </a:rPr>
              <a:t>PERT/CPM</a:t>
            </a:r>
            <a:r>
              <a:rPr lang="en-US" altLang="ko-KR" sz="1800" dirty="0">
                <a:solidFill>
                  <a:srgbClr val="004A82"/>
                </a:solidFill>
              </a:rPr>
              <a:t>(Program Evaluation and Review Technique/Critical Path Method)</a:t>
            </a:r>
          </a:p>
          <a:p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WBS</a:t>
            </a:r>
            <a:r>
              <a:rPr lang="ko-KR" altLang="en-US" dirty="0">
                <a:solidFill>
                  <a:prstClr val="black"/>
                </a:solidFill>
              </a:rPr>
              <a:t>의 작업 순서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소요 기간 등을 네트워크 형태의 그래프로 표현한 후 어떤 작업이 중요한지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또 일정에 여유가 있는 작업은 어떤 것이지 찾아내 중점 관리를 해야 하는 작업을 명확히 하는데 사용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프로젝트를 완료할 수 있는 최소 기간은 얼마인지</a:t>
            </a:r>
            <a:r>
              <a:rPr lang="en-US" altLang="ko-KR" dirty="0"/>
              <a:t>, </a:t>
            </a:r>
            <a:r>
              <a:rPr lang="ko-KR" altLang="en-US" dirty="0"/>
              <a:t>완료 기간을 맞추기 위해서는 각 작업을 언제 시작하고 완료해야 하는지</a:t>
            </a:r>
            <a:r>
              <a:rPr lang="en-US" altLang="ko-KR" dirty="0"/>
              <a:t>, </a:t>
            </a:r>
            <a:r>
              <a:rPr lang="ko-KR" altLang="en-US" dirty="0"/>
              <a:t>지연되지 않으려면 어떤 작업에 특히 주의를 기울여야 하는지</a:t>
            </a:r>
            <a:r>
              <a:rPr lang="en-US" altLang="ko-KR" dirty="0"/>
              <a:t>, </a:t>
            </a:r>
            <a:r>
              <a:rPr lang="ko-KR" altLang="en-US" dirty="0"/>
              <a:t>또 전체 프로젝트 완료 기간을 단축하기 위해서는 어떤 작업들을 단축하는 것이 가장 경제적인지 등 관리자의 고민에 답을 주기 위해 필요한 도구</a:t>
            </a:r>
            <a:r>
              <a:rPr lang="en-US" altLang="ko-KR" dirty="0"/>
              <a:t> 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146364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학사 관리 애플리케이션에 대한 </a:t>
            </a:r>
            <a:r>
              <a:rPr lang="en-US" altLang="ko-KR" dirty="0"/>
              <a:t>CPM</a:t>
            </a:r>
            <a:r>
              <a:rPr lang="ko-KR" altLang="en-US" dirty="0"/>
              <a:t>의 예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48" y="998730"/>
            <a:ext cx="800100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682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① CPM </a:t>
            </a:r>
            <a:r>
              <a:rPr lang="ko-KR" altLang="en-US" dirty="0"/>
              <a:t>네트워크를 그린다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7" y="1414462"/>
            <a:ext cx="79724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820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② ES</a:t>
            </a:r>
            <a:r>
              <a:rPr lang="ko-KR" altLang="en-US" dirty="0"/>
              <a:t>값을 구한다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004A82"/>
                </a:solidFill>
              </a:rPr>
              <a:t>ES</a:t>
            </a:r>
            <a:r>
              <a:rPr lang="en-US" altLang="ko-KR" baseline="30000" dirty="0" err="1">
                <a:solidFill>
                  <a:srgbClr val="004A82"/>
                </a:solidFill>
              </a:rPr>
              <a:t>Earliest</a:t>
            </a:r>
            <a:r>
              <a:rPr lang="en-US" altLang="ko-KR" baseline="30000" dirty="0">
                <a:solidFill>
                  <a:srgbClr val="004A82"/>
                </a:solidFill>
              </a:rPr>
              <a:t> Start Time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가능한 빨리 시작할 수 있는 시간으로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선행 작업이 완료되었을 때 해당작업을 시작할 수 있는 가장 빠른 시점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en-US" altLang="ko-KR" dirty="0"/>
              <a:t>ES </a:t>
            </a:r>
            <a:r>
              <a:rPr lang="ko-KR" altLang="en-US" dirty="0"/>
              <a:t>값을 구할 때는 맨 앞</a:t>
            </a:r>
            <a:r>
              <a:rPr lang="en-US" altLang="ko-KR" dirty="0"/>
              <a:t>(</a:t>
            </a:r>
            <a:r>
              <a:rPr lang="ko-KR" altLang="en-US" dirty="0"/>
              <a:t>작업 </a:t>
            </a:r>
            <a:r>
              <a:rPr lang="en-US" altLang="ko-KR" dirty="0"/>
              <a:t>A)</a:t>
            </a:r>
            <a:r>
              <a:rPr lang="ko-KR" altLang="en-US" dirty="0"/>
              <a:t>에서 끝 방향으로 가며 </a:t>
            </a:r>
            <a:r>
              <a:rPr lang="ko-KR" altLang="en-US" dirty="0" smtClean="0"/>
              <a:t>계산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두 작업이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합류하는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지점의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작업의 시작 시간은 두 작업이 완전히 끝났을 때를 시작 시간으로 봄</a:t>
            </a:r>
            <a:endParaRPr lang="en-US" altLang="ko-KR" dirty="0" smtClean="0"/>
          </a:p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603876"/>
            <a:ext cx="80676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2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③ EF</a:t>
            </a:r>
            <a:r>
              <a:rPr lang="ko-KR" altLang="en-US" dirty="0"/>
              <a:t>값을 구한다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004A82"/>
                </a:solidFill>
              </a:rPr>
              <a:t>EF</a:t>
            </a:r>
            <a:r>
              <a:rPr lang="en-US" altLang="ko-KR" baseline="30000" dirty="0" err="1">
                <a:solidFill>
                  <a:srgbClr val="004A82"/>
                </a:solidFill>
              </a:rPr>
              <a:t>Earliest</a:t>
            </a:r>
            <a:r>
              <a:rPr lang="en-US" altLang="ko-KR" baseline="30000" dirty="0">
                <a:solidFill>
                  <a:srgbClr val="004A82"/>
                </a:solidFill>
              </a:rPr>
              <a:t> Finish Time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가장 빠른 시작 시간</a:t>
            </a:r>
            <a:r>
              <a:rPr lang="en-US" altLang="ko-KR" dirty="0">
                <a:solidFill>
                  <a:prstClr val="black"/>
                </a:solidFill>
              </a:rPr>
              <a:t>(ES)</a:t>
            </a:r>
            <a:r>
              <a:rPr lang="ko-KR" altLang="en-US" dirty="0">
                <a:solidFill>
                  <a:prstClr val="black"/>
                </a:solidFill>
              </a:rPr>
              <a:t>으로 시작했을 때의 가장 빠른 완료 시간</a:t>
            </a:r>
          </a:p>
          <a:p>
            <a:pPr marL="457200" lvl="1" indent="0">
              <a:buNone/>
            </a:pPr>
            <a:r>
              <a:rPr lang="ko-KR" altLang="en-US" dirty="0">
                <a:solidFill>
                  <a:prstClr val="black"/>
                </a:solidFill>
              </a:rPr>
              <a:t>  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즉</a:t>
            </a:r>
            <a:r>
              <a:rPr lang="en-US" altLang="ko-KR" dirty="0">
                <a:solidFill>
                  <a:prstClr val="black"/>
                </a:solidFill>
              </a:rPr>
              <a:t>) </a:t>
            </a:r>
            <a:r>
              <a:rPr lang="ko-KR" altLang="en-US" dirty="0">
                <a:solidFill>
                  <a:prstClr val="black"/>
                </a:solidFill>
              </a:rPr>
              <a:t>가능한 빨리 끝낼 수 있는 시간으로 </a:t>
            </a:r>
            <a:r>
              <a:rPr lang="en-US" altLang="ko-KR" dirty="0">
                <a:solidFill>
                  <a:prstClr val="black"/>
                </a:solidFill>
              </a:rPr>
              <a:t>‘ES+</a:t>
            </a:r>
            <a:r>
              <a:rPr lang="ko-KR" altLang="en-US" dirty="0">
                <a:solidFill>
                  <a:prstClr val="black"/>
                </a:solidFill>
              </a:rPr>
              <a:t>작업 소요 시간’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37" y="2857500"/>
            <a:ext cx="80105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138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④ LS</a:t>
            </a:r>
            <a:r>
              <a:rPr lang="ko-KR" altLang="en-US" dirty="0"/>
              <a:t>값을 구한다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004A82"/>
                </a:solidFill>
              </a:rPr>
              <a:t>LS</a:t>
            </a:r>
            <a:r>
              <a:rPr lang="en-US" altLang="ko-KR" baseline="30000" dirty="0" err="1">
                <a:solidFill>
                  <a:srgbClr val="004A82"/>
                </a:solidFill>
              </a:rPr>
              <a:t>Latest</a:t>
            </a:r>
            <a:r>
              <a:rPr lang="en-US" altLang="ko-KR" baseline="30000" dirty="0">
                <a:solidFill>
                  <a:srgbClr val="004A82"/>
                </a:solidFill>
              </a:rPr>
              <a:t> Start Time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어떤 작업을 늦어도 시작해야 하는 시간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즉 가장 늦게 시작할 수 있는 시간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이 시간에 시작하지 않으면</a:t>
            </a:r>
            <a:r>
              <a:rPr lang="en-US" altLang="ko-KR" dirty="0"/>
              <a:t>(</a:t>
            </a:r>
            <a:r>
              <a:rPr lang="ko-KR" altLang="en-US" dirty="0"/>
              <a:t>이 시간보다 늦게 시작하면</a:t>
            </a:r>
            <a:r>
              <a:rPr lang="en-US" altLang="ko-KR" dirty="0"/>
              <a:t>) </a:t>
            </a:r>
            <a:r>
              <a:rPr lang="ko-KR" altLang="en-US" dirty="0"/>
              <a:t>총 일정이 </a:t>
            </a:r>
            <a:r>
              <a:rPr lang="ko-KR" altLang="en-US" dirty="0" smtClean="0"/>
              <a:t>지연</a:t>
            </a:r>
            <a:endParaRPr lang="en-US" altLang="ko-KR" dirty="0" smtClean="0"/>
          </a:p>
          <a:p>
            <a:pPr lvl="1"/>
            <a:r>
              <a:rPr lang="ko-KR" altLang="en-US" dirty="0"/>
              <a:t>맨 </a:t>
            </a:r>
            <a:r>
              <a:rPr lang="ko-KR" altLang="en-US" dirty="0" smtClean="0"/>
              <a:t>뒤</a:t>
            </a:r>
            <a:r>
              <a:rPr lang="en-US" altLang="ko-KR" dirty="0" smtClean="0"/>
              <a:t>(</a:t>
            </a:r>
            <a:r>
              <a:rPr lang="ko-KR" altLang="en-US" dirty="0"/>
              <a:t>작업 </a:t>
            </a:r>
            <a:r>
              <a:rPr lang="en-US" altLang="ko-KR" dirty="0" smtClean="0"/>
              <a:t>M)</a:t>
            </a:r>
            <a:r>
              <a:rPr lang="ko-KR" altLang="en-US" dirty="0"/>
              <a:t>에서 </a:t>
            </a:r>
            <a:r>
              <a:rPr lang="ko-KR" altLang="en-US" dirty="0" smtClean="0"/>
              <a:t>앞</a:t>
            </a:r>
            <a:r>
              <a:rPr lang="en-US" altLang="ko-KR" dirty="0"/>
              <a:t> (</a:t>
            </a:r>
            <a:r>
              <a:rPr lang="ko-KR" altLang="en-US" dirty="0"/>
              <a:t>작업 </a:t>
            </a:r>
            <a:r>
              <a:rPr lang="en-US" altLang="ko-KR" dirty="0"/>
              <a:t>A)</a:t>
            </a:r>
            <a:r>
              <a:rPr lang="ko-KR" altLang="en-US" dirty="0" smtClean="0"/>
              <a:t> 방향으로 </a:t>
            </a:r>
            <a:r>
              <a:rPr lang="ko-KR" altLang="en-US" dirty="0"/>
              <a:t>가며 계산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2647950"/>
            <a:ext cx="805815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655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⑤ LF</a:t>
            </a:r>
            <a:r>
              <a:rPr lang="ko-KR" altLang="en-US" dirty="0"/>
              <a:t>값을 구한다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004A82"/>
                </a:solidFill>
              </a:rPr>
              <a:t>LF</a:t>
            </a:r>
            <a:r>
              <a:rPr lang="en-US" altLang="ko-KR" baseline="30000" dirty="0" err="1">
                <a:solidFill>
                  <a:srgbClr val="004A82"/>
                </a:solidFill>
              </a:rPr>
              <a:t>Latest</a:t>
            </a:r>
            <a:r>
              <a:rPr lang="en-US" altLang="ko-KR" baseline="30000" dirty="0">
                <a:solidFill>
                  <a:srgbClr val="004A82"/>
                </a:solidFill>
              </a:rPr>
              <a:t> Finish Time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가장 늦게 시작할 수 있는 시간</a:t>
            </a:r>
            <a:r>
              <a:rPr lang="en-US" altLang="ko-KR" dirty="0">
                <a:solidFill>
                  <a:prstClr val="black"/>
                </a:solidFill>
              </a:rPr>
              <a:t>(LS)</a:t>
            </a:r>
            <a:r>
              <a:rPr lang="ko-KR" altLang="en-US" dirty="0">
                <a:solidFill>
                  <a:prstClr val="black"/>
                </a:solidFill>
              </a:rPr>
              <a:t>에 시작해 작업을 완료한 시간</a:t>
            </a:r>
            <a:endParaRPr lang="en-US" altLang="ko-KR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r>
              <a:rPr lang="ko-KR" altLang="en-US" dirty="0">
                <a:solidFill>
                  <a:prstClr val="black"/>
                </a:solidFill>
              </a:rPr>
              <a:t>  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즉</a:t>
            </a:r>
            <a:r>
              <a:rPr lang="en-US" altLang="ko-KR" dirty="0">
                <a:solidFill>
                  <a:prstClr val="black"/>
                </a:solidFill>
              </a:rPr>
              <a:t>) </a:t>
            </a:r>
            <a:r>
              <a:rPr lang="ko-KR" altLang="en-US" dirty="0">
                <a:solidFill>
                  <a:prstClr val="black"/>
                </a:solidFill>
              </a:rPr>
              <a:t>작업을 가장 늦게 끝낼 수 있는 시간으로 </a:t>
            </a:r>
            <a:r>
              <a:rPr lang="en-US" altLang="ko-KR" dirty="0">
                <a:solidFill>
                  <a:prstClr val="black"/>
                </a:solidFill>
              </a:rPr>
              <a:t>‘LS+</a:t>
            </a:r>
            <a:r>
              <a:rPr lang="ko-KR" altLang="en-US" dirty="0">
                <a:solidFill>
                  <a:prstClr val="black"/>
                </a:solidFill>
              </a:rPr>
              <a:t>작업 소요 시간’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2471737"/>
            <a:ext cx="805815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955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⑥ ST</a:t>
            </a:r>
            <a:r>
              <a:rPr lang="ko-KR" altLang="en-US" dirty="0"/>
              <a:t>값을 구한다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004A82"/>
                </a:solidFill>
              </a:rPr>
              <a:t>ST</a:t>
            </a:r>
            <a:r>
              <a:rPr lang="en-US" altLang="ko-KR" baseline="30000" dirty="0" err="1">
                <a:solidFill>
                  <a:srgbClr val="004A82"/>
                </a:solidFill>
              </a:rPr>
              <a:t>Slack</a:t>
            </a:r>
            <a:r>
              <a:rPr lang="en-US" altLang="ko-KR" baseline="30000" dirty="0">
                <a:solidFill>
                  <a:srgbClr val="004A82"/>
                </a:solidFill>
              </a:rPr>
              <a:t> Time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‘느슨한 시간’</a:t>
            </a:r>
            <a:r>
              <a:rPr lang="en-US" altLang="ko-KR" dirty="0">
                <a:solidFill>
                  <a:prstClr val="black"/>
                </a:solidFill>
              </a:rPr>
              <a:t>, ‘</a:t>
            </a:r>
            <a:r>
              <a:rPr lang="ko-KR" altLang="en-US" dirty="0">
                <a:solidFill>
                  <a:prstClr val="black"/>
                </a:solidFill>
              </a:rPr>
              <a:t>여유 있는 시간</a:t>
            </a:r>
            <a:r>
              <a:rPr lang="ko-KR" altLang="en-US" dirty="0" smtClean="0">
                <a:solidFill>
                  <a:prstClr val="black"/>
                </a:solidFill>
              </a:rPr>
              <a:t>’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여유 시간 </a:t>
            </a:r>
            <a:r>
              <a:rPr lang="en-US" altLang="ko-KR" dirty="0" smtClean="0">
                <a:solidFill>
                  <a:prstClr val="black"/>
                </a:solidFill>
              </a:rPr>
              <a:t>= </a:t>
            </a:r>
            <a:r>
              <a:rPr lang="ko-KR" altLang="en-US" dirty="0" smtClean="0">
                <a:solidFill>
                  <a:prstClr val="black"/>
                </a:solidFill>
              </a:rPr>
              <a:t>가장 늦게 시작하는 시간 </a:t>
            </a:r>
            <a:r>
              <a:rPr lang="en-US" altLang="ko-KR" dirty="0" smtClean="0">
                <a:solidFill>
                  <a:prstClr val="black"/>
                </a:solidFill>
              </a:rPr>
              <a:t>– </a:t>
            </a:r>
            <a:r>
              <a:rPr lang="ko-KR" altLang="en-US" dirty="0" smtClean="0">
                <a:solidFill>
                  <a:prstClr val="black"/>
                </a:solidFill>
              </a:rPr>
              <a:t>가장 빨리 시작하는 시간</a:t>
            </a:r>
            <a:endParaRPr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40" y="2393885"/>
            <a:ext cx="80772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48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⑦ </a:t>
            </a:r>
            <a:r>
              <a:rPr lang="ko-KR" altLang="en-US" dirty="0"/>
              <a:t>임계 경로를 구한다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임계 경로</a:t>
            </a:r>
            <a:r>
              <a:rPr lang="en-US" altLang="ko-KR" baseline="30000" dirty="0">
                <a:solidFill>
                  <a:srgbClr val="004A82"/>
                </a:solidFill>
              </a:rPr>
              <a:t>critical path</a:t>
            </a:r>
            <a:r>
              <a:rPr lang="en-US" altLang="ko-KR" dirty="0">
                <a:solidFill>
                  <a:srgbClr val="004A82"/>
                </a:solidFill>
              </a:rPr>
              <a:t> 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[</a:t>
            </a:r>
            <a:r>
              <a:rPr lang="ko-KR" altLang="en-US" dirty="0">
                <a:solidFill>
                  <a:prstClr val="black"/>
                </a:solidFill>
              </a:rPr>
              <a:t>그림 </a:t>
            </a:r>
            <a:r>
              <a:rPr lang="en-US" altLang="ko-KR" dirty="0">
                <a:solidFill>
                  <a:prstClr val="black"/>
                </a:solidFill>
              </a:rPr>
              <a:t>3-13]</a:t>
            </a:r>
            <a:r>
              <a:rPr lang="ko-KR" altLang="en-US" dirty="0">
                <a:solidFill>
                  <a:prstClr val="black"/>
                </a:solidFill>
              </a:rPr>
              <a:t>의 그래프에서 여유 시간이 없는 경로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23" y="1853825"/>
            <a:ext cx="79819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868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 err="1"/>
              <a:t>간트</a:t>
            </a:r>
            <a:r>
              <a:rPr lang="en-US" altLang="ko-KR" dirty="0"/>
              <a:t> </a:t>
            </a:r>
            <a:r>
              <a:rPr lang="ko-KR" altLang="en-US" dirty="0"/>
              <a:t>차트를 이용한 일정표 작성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004A82"/>
                </a:solidFill>
              </a:rPr>
              <a:t>간트</a:t>
            </a:r>
            <a:r>
              <a:rPr lang="ko-KR" altLang="en-US" dirty="0">
                <a:solidFill>
                  <a:srgbClr val="004A82"/>
                </a:solidFill>
              </a:rPr>
              <a:t> 차트</a:t>
            </a:r>
            <a:r>
              <a:rPr lang="en-US" altLang="ko-KR" baseline="30000" dirty="0">
                <a:solidFill>
                  <a:srgbClr val="004A82"/>
                </a:solidFill>
              </a:rPr>
              <a:t>Gantt chart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프로젝트 일정 관리를 위한 바</a:t>
            </a:r>
            <a:r>
              <a:rPr lang="en-US" altLang="ko-KR" baseline="30000" dirty="0">
                <a:solidFill>
                  <a:prstClr val="black"/>
                </a:solidFill>
              </a:rPr>
              <a:t>bar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형태의 도구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635" y="2258870"/>
            <a:ext cx="6563643" cy="375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42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50" dirty="0"/>
              <a:t>Section</a:t>
            </a:r>
            <a:r>
              <a:rPr lang="en-US" altLang="ko-KR" dirty="0"/>
              <a:t> 09 </a:t>
            </a:r>
            <a:r>
              <a:rPr lang="ko-KR" altLang="en-US" dirty="0"/>
              <a:t>위험 분석</a:t>
            </a:r>
          </a:p>
        </p:txBody>
      </p:sp>
    </p:spTree>
    <p:extLst>
      <p:ext uri="{BB962C8B-B14F-4D97-AF65-F5344CB8AC3E}">
        <p14:creationId xmlns:p14="http://schemas.microsoft.com/office/powerpoint/2010/main" val="39292031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>
                    <a:prstClr val="black"/>
                  </a:glow>
                </a:effectLst>
              </a:rPr>
              <a:t>1. </a:t>
            </a:r>
            <a:r>
              <a:rPr lang="ko-KR" altLang="en-US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>
                    <a:prstClr val="black"/>
                  </a:glow>
                </a:effectLst>
              </a:rPr>
              <a:t>위험 분석</a:t>
            </a:r>
            <a:endParaRPr lang="ko-KR" altLang="en-US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666" y="638690"/>
            <a:ext cx="5326153" cy="2844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685" y="3654026"/>
            <a:ext cx="5328000" cy="276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784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>
                    <a:prstClr val="black"/>
                  </a:glow>
                </a:effectLst>
              </a:rPr>
              <a:t>2. </a:t>
            </a:r>
            <a:r>
              <a:rPr lang="ko-KR" altLang="en-US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>
                    <a:prstClr val="black"/>
                  </a:glow>
                </a:effectLst>
              </a:rPr>
              <a:t>위험 예방</a:t>
            </a:r>
            <a:endParaRPr lang="ko-KR" altLang="en-US" sz="36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2" y="976312"/>
            <a:ext cx="74580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457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위험 관리 절차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7" y="2138362"/>
            <a:ext cx="782002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054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위험 관리 절차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위험 요소 식별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83795"/>
            <a:ext cx="67818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180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위험 관리 절차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위험 분석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위험 요소가 발생할 가능성과 영향력을 판단</a:t>
            </a:r>
            <a:endParaRPr lang="en-US" altLang="ko-KR" dirty="0"/>
          </a:p>
          <a:p>
            <a:pPr lvl="1"/>
            <a:r>
              <a:rPr lang="ko-KR" altLang="en-US" dirty="0"/>
              <a:t>과거 프로젝트에서 데이터와 위험을 분석한 경험이 많은 개발자에 의존해 판단</a:t>
            </a:r>
            <a:endParaRPr lang="en-US" altLang="ko-KR" dirty="0"/>
          </a:p>
          <a:p>
            <a:pPr lvl="1"/>
            <a:r>
              <a:rPr lang="ko-KR" altLang="en-US" dirty="0"/>
              <a:t>위험 발생 가능성의 척도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‘매우 낮음</a:t>
            </a:r>
            <a:r>
              <a:rPr lang="en-US" altLang="ko-KR" dirty="0"/>
              <a:t>(&lt;10%), </a:t>
            </a:r>
            <a:r>
              <a:rPr lang="ko-KR" altLang="en-US" dirty="0"/>
              <a:t>낮음</a:t>
            </a:r>
            <a:r>
              <a:rPr lang="en-US" altLang="ko-KR" dirty="0"/>
              <a:t>(10~25%), </a:t>
            </a:r>
            <a:r>
              <a:rPr lang="ko-KR" altLang="en-US" dirty="0"/>
              <a:t>보통</a:t>
            </a:r>
            <a:r>
              <a:rPr lang="en-US" altLang="ko-KR" dirty="0"/>
              <a:t>(25~50%), </a:t>
            </a:r>
            <a:r>
              <a:rPr lang="ko-KR" altLang="en-US" dirty="0"/>
              <a:t>높음</a:t>
            </a:r>
            <a:r>
              <a:rPr lang="en-US" altLang="ko-KR" dirty="0"/>
              <a:t>(50~75%), </a:t>
            </a:r>
            <a:r>
              <a:rPr lang="ko-KR" altLang="en-US" dirty="0"/>
              <a:t>매우 높음</a:t>
            </a:r>
            <a:r>
              <a:rPr lang="en-US" altLang="ko-KR" dirty="0"/>
              <a:t>(&gt;75%)’</a:t>
            </a:r>
          </a:p>
          <a:p>
            <a:pPr lvl="1"/>
            <a:r>
              <a:rPr lang="ko-KR" altLang="en-US" dirty="0"/>
              <a:t>위험 발생 확률</a:t>
            </a:r>
            <a:endParaRPr lang="en-US" altLang="ko-KR" dirty="0"/>
          </a:p>
          <a:p>
            <a:pPr lvl="2"/>
            <a:r>
              <a:rPr lang="ko-KR" altLang="en-US" dirty="0"/>
              <a:t>상</a:t>
            </a:r>
            <a:r>
              <a:rPr lang="en-US" altLang="ko-KR" dirty="0"/>
              <a:t>: 80% </a:t>
            </a:r>
            <a:r>
              <a:rPr lang="ko-KR" altLang="en-US" dirty="0"/>
              <a:t>이상</a:t>
            </a:r>
            <a:r>
              <a:rPr lang="en-US" altLang="ko-KR" dirty="0"/>
              <a:t>, </a:t>
            </a:r>
            <a:r>
              <a:rPr lang="ko-KR" altLang="en-US" dirty="0"/>
              <a:t>중</a:t>
            </a:r>
            <a:r>
              <a:rPr lang="en-US" altLang="ko-KR" dirty="0"/>
              <a:t>: 30~80%, </a:t>
            </a:r>
            <a:r>
              <a:rPr lang="ko-KR" altLang="en-US" dirty="0"/>
              <a:t>하</a:t>
            </a:r>
            <a:r>
              <a:rPr lang="en-US" altLang="ko-KR" dirty="0"/>
              <a:t>: 30% </a:t>
            </a:r>
            <a:r>
              <a:rPr lang="ko-KR" altLang="en-US" dirty="0"/>
              <a:t>미만</a:t>
            </a:r>
            <a:endParaRPr lang="en-US" altLang="ko-KR" dirty="0"/>
          </a:p>
          <a:p>
            <a:pPr lvl="1"/>
            <a:r>
              <a:rPr lang="ko-KR" altLang="en-US" dirty="0"/>
              <a:t>영향력</a:t>
            </a:r>
            <a:endParaRPr lang="en-US" altLang="ko-KR" dirty="0"/>
          </a:p>
          <a:p>
            <a:pPr lvl="2"/>
            <a:r>
              <a:rPr lang="ko-KR" altLang="en-US" dirty="0"/>
              <a:t>재앙</a:t>
            </a:r>
            <a:r>
              <a:rPr lang="en-US" altLang="ko-KR" dirty="0"/>
              <a:t>, </a:t>
            </a:r>
            <a:r>
              <a:rPr lang="ko-KR" altLang="en-US" dirty="0"/>
              <a:t>심각함</a:t>
            </a:r>
            <a:r>
              <a:rPr lang="en-US" altLang="ko-KR" dirty="0"/>
              <a:t>, </a:t>
            </a:r>
            <a:r>
              <a:rPr lang="ko-KR" altLang="en-US" dirty="0"/>
              <a:t>해결 가능함</a:t>
            </a:r>
            <a:r>
              <a:rPr lang="en-US" altLang="ko-KR" dirty="0"/>
              <a:t>, </a:t>
            </a:r>
            <a:r>
              <a:rPr lang="ko-KR" altLang="en-US" dirty="0"/>
              <a:t>경미함 등으로 분류</a:t>
            </a:r>
            <a:endParaRPr lang="en-US" altLang="ko-KR" dirty="0"/>
          </a:p>
          <a:p>
            <a:pPr lvl="2"/>
            <a:r>
              <a:rPr lang="ko-KR" altLang="en-US" dirty="0"/>
              <a:t>비용과 일정으로 분류</a:t>
            </a:r>
            <a:r>
              <a:rPr lang="en-US" altLang="ko-KR" dirty="0"/>
              <a:t>: </a:t>
            </a:r>
            <a:r>
              <a:rPr lang="ko-KR" altLang="en-US" dirty="0"/>
              <a:t>상</a:t>
            </a:r>
            <a:r>
              <a:rPr lang="en-US" altLang="ko-KR" dirty="0"/>
              <a:t>(20% </a:t>
            </a:r>
            <a:r>
              <a:rPr lang="ko-KR" altLang="en-US" dirty="0"/>
              <a:t>이상 초과</a:t>
            </a:r>
            <a:r>
              <a:rPr lang="en-US" altLang="ko-KR" dirty="0"/>
              <a:t>), </a:t>
            </a:r>
            <a:r>
              <a:rPr lang="ko-KR" altLang="en-US" dirty="0"/>
              <a:t>중</a:t>
            </a:r>
            <a:r>
              <a:rPr lang="en-US" altLang="ko-KR" dirty="0"/>
              <a:t>(5~20%), </a:t>
            </a:r>
            <a:r>
              <a:rPr lang="ko-KR" altLang="en-US" dirty="0"/>
              <a:t>하</a:t>
            </a:r>
            <a:r>
              <a:rPr lang="en-US" altLang="ko-KR" dirty="0"/>
              <a:t>(5% </a:t>
            </a:r>
            <a:r>
              <a:rPr lang="ko-KR" altLang="en-US" dirty="0"/>
              <a:t>이하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비용과 일정 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상</a:t>
            </a:r>
            <a:r>
              <a:rPr lang="en-US" altLang="ko-KR" dirty="0"/>
              <a:t>(20% </a:t>
            </a:r>
            <a:r>
              <a:rPr lang="ko-KR" altLang="en-US" dirty="0"/>
              <a:t>이상 초과</a:t>
            </a:r>
            <a:r>
              <a:rPr lang="en-US" altLang="ko-KR" dirty="0"/>
              <a:t>), </a:t>
            </a:r>
            <a:r>
              <a:rPr lang="ko-KR" altLang="en-US" dirty="0"/>
              <a:t>중</a:t>
            </a:r>
            <a:r>
              <a:rPr lang="en-US" altLang="ko-KR" dirty="0"/>
              <a:t>(5~20%), </a:t>
            </a:r>
            <a:r>
              <a:rPr lang="ko-KR" altLang="en-US" dirty="0"/>
              <a:t>하</a:t>
            </a:r>
            <a:r>
              <a:rPr lang="en-US" altLang="ko-KR" dirty="0"/>
              <a:t>(5% </a:t>
            </a:r>
            <a:r>
              <a:rPr lang="ko-KR" altLang="en-US" dirty="0"/>
              <a:t>이하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75832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위험 관리 절차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004A82"/>
                </a:solidFill>
              </a:rPr>
              <a:t>위험 계획 수립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식별된 위험 요소의 위험을 관리하기 위해 전략을 찾는 과정</a:t>
            </a:r>
            <a:endParaRPr lang="en-US" altLang="ko-KR" dirty="0"/>
          </a:p>
          <a:p>
            <a:pPr lvl="1"/>
            <a:r>
              <a:rPr lang="ko-KR" altLang="en-US" dirty="0"/>
              <a:t>위험을 처리하는 위험 대응 방안 수립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rgbClr val="004A82"/>
                </a:solidFill>
              </a:rPr>
              <a:t>위험 감시</a:t>
            </a:r>
            <a:endParaRPr lang="en-US" altLang="ko-KR" dirty="0">
              <a:solidFill>
                <a:srgbClr val="004A82"/>
              </a:solidFill>
            </a:endParaRPr>
          </a:p>
          <a:p>
            <a:pPr lvl="1"/>
            <a:r>
              <a:rPr lang="ko-KR" altLang="en-US" dirty="0"/>
              <a:t>식별된 위험 요소의 발생 확률과 변화 등을 관리</a:t>
            </a:r>
            <a:endParaRPr lang="en-US" altLang="ko-KR" dirty="0"/>
          </a:p>
          <a:p>
            <a:pPr lvl="1"/>
            <a:r>
              <a:rPr lang="ko-KR" altLang="en-US" dirty="0"/>
              <a:t>예측한 위험의 실제 발생 여부 확인</a:t>
            </a:r>
            <a:endParaRPr lang="en-US" altLang="ko-KR" dirty="0"/>
          </a:p>
          <a:p>
            <a:pPr lvl="1"/>
            <a:r>
              <a:rPr lang="ko-KR" altLang="en-US" dirty="0"/>
              <a:t>실전에서 위험 대응 방안의 적절성 여부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374562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7025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0pGGgPnhBmF6y66eBGwg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LBiWEQYdFTOe9rzf4UG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A7ftul0JWsMpeaCqdWE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1958E5hvUyXmqsZauhVzj8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3274</TotalTime>
  <Words>3601</Words>
  <Application>Microsoft Office PowerPoint</Application>
  <PresentationFormat>화면 슬라이드 쇼(4:3)</PresentationFormat>
  <Paragraphs>681</Paragraphs>
  <Slides>86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97" baseType="lpstr">
      <vt:lpstr>HY강B</vt:lpstr>
      <vt:lpstr>HY견고딕</vt:lpstr>
      <vt:lpstr>HY견명조</vt:lpstr>
      <vt:lpstr>HY헤드라인M</vt:lpstr>
      <vt:lpstr>맑은 고딕</vt:lpstr>
      <vt:lpstr>Arial</vt:lpstr>
      <vt:lpstr>Symbol</vt:lpstr>
      <vt:lpstr>Tahoma</vt:lpstr>
      <vt:lpstr>Verdana</vt:lpstr>
      <vt:lpstr>Wingdings</vt:lpstr>
      <vt:lpstr>Office 테마</vt:lpstr>
      <vt:lpstr>Chapter 03 계획</vt:lpstr>
      <vt:lpstr>PowerPoint 프레젠테이션</vt:lpstr>
      <vt:lpstr>PowerPoint 프레젠테이션</vt:lpstr>
      <vt:lpstr>Section 01 계획의 이해</vt:lpstr>
      <vt:lpstr>1. 계획의 이해</vt:lpstr>
      <vt:lpstr>2. 소프트웨어 개발 계획</vt:lpstr>
      <vt:lpstr>2. 소프트웨어 개발 계획</vt:lpstr>
      <vt:lpstr>Section 02 문제의 정의</vt:lpstr>
      <vt:lpstr>1. 문제의 정의</vt:lpstr>
      <vt:lpstr>Section 03 타당성 분석</vt:lpstr>
      <vt:lpstr>1. 타당성 분석(1)</vt:lpstr>
      <vt:lpstr>1. 타당성 분석(2) </vt:lpstr>
      <vt:lpstr>Section 04 개발비용 산정</vt:lpstr>
      <vt:lpstr>1. 개발 비용 산정</vt:lpstr>
      <vt:lpstr>2. 개발비 산정의 어려움(1)</vt:lpstr>
      <vt:lpstr>2. 개발비 산정의 어려움(2)</vt:lpstr>
      <vt:lpstr>3. SW 개발 비용에 영향을 주는 요소(1)</vt:lpstr>
      <vt:lpstr>3. SW 개발 비용에 영향을 주는 요소(2)</vt:lpstr>
      <vt:lpstr>Section 05 비용 산정 기법 1 :  하향식 산정 기법</vt:lpstr>
      <vt:lpstr>1. 하향식 산정 기법 </vt:lpstr>
      <vt:lpstr>Section 06 비용 산정 기법 2 :  상향식 산정 기법</vt:lpstr>
      <vt:lpstr>1. 상향식 산정 기법</vt:lpstr>
      <vt:lpstr>2. 원시 코드 라인 수 기법</vt:lpstr>
      <vt:lpstr>2. 원시 코드 라인 수 기법</vt:lpstr>
      <vt:lpstr>3. 개발 단계별 노력(M/M)기법</vt:lpstr>
      <vt:lpstr>Section 07 비용 산정 기법 3 :  수학적 산정 기법</vt:lpstr>
      <vt:lpstr>1. 수학적 산정 기법</vt:lpstr>
      <vt:lpstr>2. COCOMO 방법(1)</vt:lpstr>
      <vt:lpstr>2. COCOMO 방법(2)</vt:lpstr>
      <vt:lpstr>2-1 COCOMO 방법을 이용한 총 개발 기간 산정 과정</vt:lpstr>
      <vt:lpstr>2-2 프로젝트 유형</vt:lpstr>
      <vt:lpstr>2-3 가중치 반영하기(1)</vt:lpstr>
      <vt:lpstr>2-3 가중치 반영하기(2)</vt:lpstr>
      <vt:lpstr>2-4 보정 계수 반영하기(1)</vt:lpstr>
      <vt:lpstr>2-4 보정 계수 반영하기(2)</vt:lpstr>
      <vt:lpstr>2-4 보정 계수 반영하기(3)</vt:lpstr>
      <vt:lpstr>2-5 총 개발 기간 산정하기</vt:lpstr>
      <vt:lpstr>3. COCOMO II 방법</vt:lpstr>
      <vt:lpstr>3-1 프로젝트 진행 정도에 따른 분류</vt:lpstr>
      <vt:lpstr>4.  기능 점수 산정 방법(1)</vt:lpstr>
      <vt:lpstr>4.  기능 점수 산정 방법(2)</vt:lpstr>
      <vt:lpstr>5. 소프트웨어 기능 분류</vt:lpstr>
      <vt:lpstr>6.  기능 점수 산정 방법</vt:lpstr>
      <vt:lpstr>7.  기능 점수 산정 방법의 장점</vt:lpstr>
      <vt:lpstr>8.  기능 점수 산정 방법의 단점</vt:lpstr>
      <vt:lpstr>9.  간이 기능 점수법 산정</vt:lpstr>
      <vt:lpstr>10.  간이 기능 점수 산정 절차</vt:lpstr>
      <vt:lpstr>10-1 측정 유형 결정</vt:lpstr>
      <vt:lpstr>10-2 측정 범위와 애플리케이션 경계 식별(1)</vt:lpstr>
      <vt:lpstr>10-2 측정 범위와 애플리케이션 경계 식별(2)</vt:lpstr>
      <vt:lpstr>10-3 데이터 기능 점수 계산(1)</vt:lpstr>
      <vt:lpstr>10-3 데이터 기능 점수 계산(2)</vt:lpstr>
      <vt:lpstr>10-3 데이터 기능 점수 계산(3)</vt:lpstr>
      <vt:lpstr>10-4 트랜잭션 기능 점수 계산(1)</vt:lpstr>
      <vt:lpstr>10-4 기능 유형(2)</vt:lpstr>
      <vt:lpstr>10-4 트랜잭션 기능의 예(3)</vt:lpstr>
      <vt:lpstr>10-5 미조정 기능 점수 계산</vt:lpstr>
      <vt:lpstr>10-6 보정 전 개발 원가 계산</vt:lpstr>
      <vt:lpstr>10-7 보정 후 점수계산(1)</vt:lpstr>
      <vt:lpstr>10-7 보정 후 점수계산(2)</vt:lpstr>
      <vt:lpstr>10-7 보정 후 점수계산(2)</vt:lpstr>
      <vt:lpstr>10-9 보정 후 개발원가 계산</vt:lpstr>
      <vt:lpstr>Section 08 일정 계획</vt:lpstr>
      <vt:lpstr>1. 일정 계획</vt:lpstr>
      <vt:lpstr>1-1 SW 개발 프로젝트에서의 일정 계획</vt:lpstr>
      <vt:lpstr>2. 작업 분할 구조도(1)</vt:lpstr>
      <vt:lpstr>2. 작업 분할 구조도(2)</vt:lpstr>
      <vt:lpstr>2. 작업 분할 구조도(3)</vt:lpstr>
      <vt:lpstr>3. 네트워크 차트</vt:lpstr>
      <vt:lpstr>4. 학사 관리 애플리케이션에 대한 CPM의 예</vt:lpstr>
      <vt:lpstr>① CPM 네트워크를 그린다</vt:lpstr>
      <vt:lpstr>② ES값을 구한다</vt:lpstr>
      <vt:lpstr>③ EF값을 구한다</vt:lpstr>
      <vt:lpstr>④ LS값을 구한다</vt:lpstr>
      <vt:lpstr>⑤ LF값을 구한다</vt:lpstr>
      <vt:lpstr>⑥ ST값을 구한다</vt:lpstr>
      <vt:lpstr>⑦ 임계 경로를 구한다</vt:lpstr>
      <vt:lpstr>5. 간트 차트를 이용한 일정표 작성</vt:lpstr>
      <vt:lpstr>Section 09 위험 분석</vt:lpstr>
      <vt:lpstr>1. 위험 분석</vt:lpstr>
      <vt:lpstr>2. 위험 예방</vt:lpstr>
      <vt:lpstr>3. 위험 관리 절차(1)</vt:lpstr>
      <vt:lpstr>3. 위험 관리 절차(2)</vt:lpstr>
      <vt:lpstr>3. 위험 관리 절차(3)</vt:lpstr>
      <vt:lpstr>3. 위험 관리 절차(4)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ch03_계획</dc:title>
  <dc:creator>한빛아카데미(주)</dc:creator>
  <cp:lastModifiedBy>user</cp:lastModifiedBy>
  <cp:revision>256</cp:revision>
  <dcterms:created xsi:type="dcterms:W3CDTF">2012-07-23T02:34:37Z</dcterms:created>
  <dcterms:modified xsi:type="dcterms:W3CDTF">2026-09-21T08:09:04Z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Tracking">
    <vt:lpwstr>true</vt:lpwstr>
  </property>
  <property fmtid="{D5CDD505-2E9C-101B-9397-08002B2CF9AE}" pid="3" name="Google.Documents.DocumentId">
    <vt:lpwstr>1NCUCeAsLTdgs0g0NVq39g0UxrcrxPknXzBwH4Bd9mpo</vt:lpwstr>
  </property>
  <property fmtid="{D5CDD505-2E9C-101B-9397-08002B2CF9AE}" pid="4" name="Google.Documents.RevisionId">
    <vt:lpwstr>16204708356322461875</vt:lpwstr>
  </property>
  <property fmtid="{D5CDD505-2E9C-101B-9397-08002B2CF9AE}" pid="5" name="Google.Documents.PreviousRevisionId">
    <vt:lpwstr>06215226093729447614</vt:lpwstr>
  </property>
  <property fmtid="{D5CDD505-2E9C-101B-9397-08002B2CF9AE}" pid="6" name="Google.Documents.PluginVersion">
    <vt:lpwstr>2.0.2662.553</vt:lpwstr>
  </property>
  <property fmtid="{D5CDD505-2E9C-101B-9397-08002B2CF9AE}" pid="7" name="Google.Documents.MergeIncapabilityFlags">
    <vt:i4>0</vt:i4>
  </property>
</Properties>
</file>